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7"/>
  </p:sldMasterIdLst>
  <p:notesMasterIdLst>
    <p:notesMasterId r:id="rId27"/>
  </p:notesMasterIdLst>
  <p:handoutMasterIdLst>
    <p:handoutMasterId r:id="rId28"/>
  </p:handoutMasterIdLst>
  <p:sldIdLst>
    <p:sldId id="2147480979" r:id="rId8"/>
    <p:sldId id="2147480982" r:id="rId9"/>
    <p:sldId id="2147480980" r:id="rId10"/>
    <p:sldId id="2147480991" r:id="rId11"/>
    <p:sldId id="2147480993" r:id="rId12"/>
    <p:sldId id="2147480992" r:id="rId13"/>
    <p:sldId id="2147480984" r:id="rId14"/>
    <p:sldId id="2147480995" r:id="rId15"/>
    <p:sldId id="2147480996" r:id="rId16"/>
    <p:sldId id="2147480997" r:id="rId17"/>
    <p:sldId id="2147480998" r:id="rId18"/>
    <p:sldId id="2147480999" r:id="rId19"/>
    <p:sldId id="2147481000" r:id="rId20"/>
    <p:sldId id="2147481001" r:id="rId21"/>
    <p:sldId id="2147481002" r:id="rId22"/>
    <p:sldId id="2147481003" r:id="rId23"/>
    <p:sldId id="2147481004" r:id="rId24"/>
    <p:sldId id="2147481005" r:id="rId25"/>
    <p:sldId id="2147480977" r:id="rId26"/>
  </p:sldIdLst>
  <p:sldSz cx="9906000" cy="6858000" type="A4"/>
  <p:notesSz cx="6810375" cy="99425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49AF0A-130C-4D78-998C-A58D92764F20}">
          <p14:sldIdLst>
            <p14:sldId id="2147480979"/>
            <p14:sldId id="2147480982"/>
            <p14:sldId id="2147480980"/>
            <p14:sldId id="2147480991"/>
            <p14:sldId id="2147480993"/>
            <p14:sldId id="2147480992"/>
            <p14:sldId id="2147480984"/>
            <p14:sldId id="2147480995"/>
            <p14:sldId id="2147480996"/>
            <p14:sldId id="2147480997"/>
            <p14:sldId id="2147480998"/>
            <p14:sldId id="2147480999"/>
            <p14:sldId id="2147481000"/>
            <p14:sldId id="2147481001"/>
            <p14:sldId id="2147481002"/>
            <p14:sldId id="2147481003"/>
            <p14:sldId id="2147481004"/>
            <p14:sldId id="2147481005"/>
            <p14:sldId id="21474809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72" userDrawn="1">
          <p15:clr>
            <a:srgbClr val="A4A3A4"/>
          </p15:clr>
        </p15:guide>
        <p15:guide id="2" orient="horz" pos="2352">
          <p15:clr>
            <a:srgbClr val="A4A3A4"/>
          </p15:clr>
        </p15:guide>
        <p15:guide id="3" orient="horz" pos="336" userDrawn="1">
          <p15:clr>
            <a:srgbClr val="A4A3A4"/>
          </p15:clr>
        </p15:guide>
        <p15:guide id="4" orient="horz" pos="552" userDrawn="1">
          <p15:clr>
            <a:srgbClr val="A4A3A4"/>
          </p15:clr>
        </p15:guide>
        <p15:guide id="5" orient="horz" pos="3816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orient="horz" pos="1008" userDrawn="1">
          <p15:clr>
            <a:srgbClr val="A4A3A4"/>
          </p15:clr>
        </p15:guide>
        <p15:guide id="8" orient="horz" pos="408" userDrawn="1">
          <p15:clr>
            <a:srgbClr val="A4A3A4"/>
          </p15:clr>
        </p15:guide>
        <p15:guide id="9" pos="1344" userDrawn="1">
          <p15:clr>
            <a:srgbClr val="A4A3A4"/>
          </p15:clr>
        </p15:guide>
        <p15:guide id="10" pos="3312" userDrawn="1">
          <p15:clr>
            <a:srgbClr val="A4A3A4"/>
          </p15:clr>
        </p15:guide>
        <p15:guide id="11" pos="1296" userDrawn="1">
          <p15:clr>
            <a:srgbClr val="A4A3A4"/>
          </p15:clr>
        </p15:guide>
        <p15:guide id="12" pos="5640" userDrawn="1">
          <p15:clr>
            <a:srgbClr val="A4A3A4"/>
          </p15:clr>
        </p15:guide>
        <p15:guide id="13" pos="3120">
          <p15:clr>
            <a:srgbClr val="A4A3A4"/>
          </p15:clr>
        </p15:guide>
        <p15:guide id="14" orient="horz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, Safeer [CCC-OT NE]" initials="MS[N" lastIdx="6" clrIdx="0">
    <p:extLst>
      <p:ext uri="{19B8F6BF-5375-455C-9EA6-DF929625EA0E}">
        <p15:presenceInfo xmlns:p15="http://schemas.microsoft.com/office/powerpoint/2012/main" userId="S-1-5-21-1275210071-1604221776-725345543-22566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296"/>
    <a:srgbClr val="ED8B00"/>
    <a:srgbClr val="707070"/>
    <a:srgbClr val="A674B6"/>
    <a:srgbClr val="C8D1F1"/>
    <a:srgbClr val="92A2E3"/>
    <a:srgbClr val="5B74D5"/>
    <a:srgbClr val="E2E2E2"/>
    <a:srgbClr val="F5EFF7"/>
    <a:srgbClr val="E1E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1" autoAdjust="0"/>
    <p:restoredTop sz="96292" autoAdjust="0"/>
  </p:normalViewPr>
  <p:slideViewPr>
    <p:cSldViewPr snapToGrid="0" snapToObjects="1">
      <p:cViewPr varScale="1">
        <p:scale>
          <a:sx n="110" d="100"/>
          <a:sy n="110" d="100"/>
        </p:scale>
        <p:origin x="1590" y="114"/>
      </p:cViewPr>
      <p:guideLst>
        <p:guide orient="horz" pos="2472"/>
        <p:guide orient="horz" pos="2352"/>
        <p:guide orient="horz" pos="336"/>
        <p:guide orient="horz" pos="552"/>
        <p:guide orient="horz" pos="3816"/>
        <p:guide orient="horz" pos="2856"/>
        <p:guide orient="horz" pos="1008"/>
        <p:guide orient="horz" pos="408"/>
        <p:guide pos="1344"/>
        <p:guide pos="3312"/>
        <p:guide pos="1296"/>
        <p:guide pos="5640"/>
        <p:guide pos="3120"/>
        <p:guide orient="horz" pos="288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7410"/>
    </p:cViewPr>
  </p:sorterViewPr>
  <p:notesViewPr>
    <p:cSldViewPr snapToGrid="0" snapToObjects="1">
      <p:cViewPr varScale="1">
        <p:scale>
          <a:sx n="67" d="100"/>
          <a:sy n="67" d="100"/>
        </p:scale>
        <p:origin x="3436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t" anchorCtr="0" compatLnSpc="1">
            <a:prstTxWarp prst="textNoShape">
              <a:avLst/>
            </a:prstTxWarp>
          </a:bodyPr>
          <a:lstStyle>
            <a:lvl1pPr algn="l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60687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t" anchorCtr="0" compatLnSpc="1">
            <a:prstTxWarp prst="textNoShape">
              <a:avLst/>
            </a:prstTxWarp>
          </a:bodyPr>
          <a:lstStyle>
            <a:lvl1pPr algn="r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3563"/>
            <a:ext cx="2960688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b" anchorCtr="0" compatLnSpc="1">
            <a:prstTxWarp prst="textNoShape">
              <a:avLst/>
            </a:prstTxWarp>
          </a:bodyPr>
          <a:lstStyle>
            <a:lvl1pPr algn="l" defTabSz="882650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453563"/>
            <a:ext cx="2960687" cy="4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17" tIns="44107" rIns="88217" bIns="44107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>
            <a:lvl1pPr algn="l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4" y="0"/>
            <a:ext cx="29495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>
            <a:lvl1pPr algn="r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9300"/>
            <a:ext cx="538162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22813"/>
            <a:ext cx="5451475" cy="447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7213"/>
            <a:ext cx="2949575" cy="49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b" anchorCtr="0" compatLnSpc="1">
            <a:prstTxWarp prst="textNoShape">
              <a:avLst/>
            </a:prstTxWarp>
          </a:bodyPr>
          <a:lstStyle>
            <a:lvl1pPr algn="l" defTabSz="898525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4" y="9447213"/>
            <a:ext cx="2949575" cy="49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88" tIns="44942" rIns="89888" bIns="44942" numCol="1" anchor="b" anchorCtr="0" compatLnSpc="1">
            <a:prstTxWarp prst="textNoShape">
              <a:avLst/>
            </a:prstTxWarp>
          </a:bodyPr>
          <a:lstStyle>
            <a:lvl1pPr algn="r" defTabSz="898525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9816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C428FF-E08F-45DE-BAC9-258D4444EC1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pPr marL="0" marR="0" lvl="0" indent="0" algn="r" defTabSz="89816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ヒラギノ角ゴ Pro W3" pitchFamily="12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571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600200"/>
            <a:ext cx="8458200" cy="3810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533400" y="959822"/>
            <a:ext cx="8458200" cy="461665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6" name="Rectangle 5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7" name="Rectangle 6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70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blipFill dpi="0" rotWithShape="1">
          <a:blip r:embed="rId2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600200"/>
            <a:ext cx="8458200" cy="3810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533400" y="959822"/>
            <a:ext cx="8458200" cy="461665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  <p:grpSp>
        <p:nvGrpSpPr>
          <p:cNvPr id="5" name="Group 4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6" name="Rectangle 5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7" name="Rectangle 6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29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0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0213" y="1295400"/>
            <a:ext cx="2973387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3477418" y="1295400"/>
            <a:ext cx="29718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29718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9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Qua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half" idx="11"/>
          </p:nvPr>
        </p:nvSpPr>
        <p:spPr>
          <a:xfrm>
            <a:off x="5105400" y="38862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half" idx="10"/>
          </p:nvPr>
        </p:nvSpPr>
        <p:spPr>
          <a:xfrm>
            <a:off x="152400" y="38862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22860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2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2"/>
              </a:buClr>
              <a:buSzPct val="80000"/>
              <a:buFont typeface="Arial"/>
              <a:buChar char="▼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2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2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2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2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CB6015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CB6015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CB6015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CB6015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 marL="171450" indent="-171450" algn="l">
              <a:buClr>
                <a:schemeClr val="accent1"/>
              </a:buClr>
              <a:buSzPct val="80000"/>
              <a:buFont typeface="Arial"/>
              <a:buChar char="▲"/>
              <a:defRPr sz="1400" b="0">
                <a:solidFill>
                  <a:srgbClr val="53565A"/>
                </a:solidFill>
              </a:defRPr>
            </a:lvl1pPr>
            <a:lvl2pPr marL="342900" indent="-171450" algn="l">
              <a:buClr>
                <a:schemeClr val="accent1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2pPr>
            <a:lvl3pPr marL="514350" indent="-17145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3pPr>
            <a:lvl4pPr marL="685800" indent="-171450" algn="l">
              <a:buClr>
                <a:schemeClr val="accent1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4pPr>
            <a:lvl5pPr marL="857250" indent="-171450" algn="l">
              <a:buClr>
                <a:schemeClr val="accent1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5pPr>
            <a:lvl6pPr marL="1028700" indent="-171450" algn="l">
              <a:buClr>
                <a:srgbClr val="00BDF2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</a:defRPr>
            </a:lvl6pPr>
            <a:lvl7pPr marL="1200150" indent="-171450" algn="l">
              <a:buClr>
                <a:srgbClr val="00BDF2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</a:defRPr>
            </a:lvl7pPr>
            <a:lvl8pPr marL="1371600" indent="-171450" algn="l">
              <a:buClr>
                <a:srgbClr val="00BDF2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</a:defRPr>
            </a:lvl8pPr>
            <a:lvl9pPr marL="1543050" indent="-171450" algn="l">
              <a:buClr>
                <a:srgbClr val="00BDF2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893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4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89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906000" cy="533400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026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1029" name="Title 1"/>
          <p:cNvSpPr>
            <a:spLocks noGrp="1" noChangeArrowheads="1"/>
          </p:cNvSpPr>
          <p:nvPr>
            <p:ph type="title"/>
          </p:nvPr>
        </p:nvSpPr>
        <p:spPr bwMode="gray">
          <a:xfrm>
            <a:off x="152400" y="60325"/>
            <a:ext cx="9598025" cy="377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-1219200" y="609600"/>
            <a:ext cx="685800" cy="4844290"/>
            <a:chOff x="-1219200" y="609600"/>
            <a:chExt cx="857250" cy="6055360"/>
          </a:xfrm>
        </p:grpSpPr>
        <p:sp>
          <p:nvSpPr>
            <p:cNvPr id="7" name="Rectangle 6"/>
            <p:cNvSpPr/>
            <p:nvPr userDrawn="1"/>
          </p:nvSpPr>
          <p:spPr bwMode="auto">
            <a:xfrm flipH="1">
              <a:off x="-1219200" y="609600"/>
              <a:ext cx="857250" cy="857250"/>
            </a:xfrm>
            <a:prstGeom prst="rect">
              <a:avLst/>
            </a:prstGeom>
            <a:solidFill>
              <a:srgbClr val="6B1785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107-23-133</a:t>
              </a:r>
            </a:p>
          </p:txBody>
        </p:sp>
        <p:sp>
          <p:nvSpPr>
            <p:cNvPr id="8" name="Rectangle 7"/>
            <p:cNvSpPr/>
            <p:nvPr userDrawn="1"/>
          </p:nvSpPr>
          <p:spPr bwMode="auto">
            <a:xfrm flipH="1">
              <a:off x="-1219200" y="1649222"/>
              <a:ext cx="857250" cy="857250"/>
            </a:xfrm>
            <a:prstGeom prst="rect">
              <a:avLst/>
            </a:prstGeom>
            <a:solidFill>
              <a:srgbClr val="E8529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232-82-150</a:t>
              </a:r>
            </a:p>
          </p:txBody>
        </p:sp>
        <p:sp>
          <p:nvSpPr>
            <p:cNvPr id="9" name="Rectangle 8"/>
            <p:cNvSpPr/>
            <p:nvPr userDrawn="1"/>
          </p:nvSpPr>
          <p:spPr bwMode="auto">
            <a:xfrm flipH="1">
              <a:off x="-1219200" y="2688844"/>
              <a:ext cx="857250" cy="857250"/>
            </a:xfrm>
            <a:prstGeom prst="rect">
              <a:avLst/>
            </a:prstGeom>
            <a:solidFill>
              <a:srgbClr val="22368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34-54-132</a:t>
              </a:r>
            </a:p>
          </p:txBody>
        </p:sp>
        <p:sp>
          <p:nvSpPr>
            <p:cNvPr id="10" name="Rectangle 9"/>
            <p:cNvSpPr/>
            <p:nvPr userDrawn="1"/>
          </p:nvSpPr>
          <p:spPr bwMode="auto">
            <a:xfrm flipH="1">
              <a:off x="-1219200" y="3728466"/>
              <a:ext cx="857250" cy="857250"/>
            </a:xfrm>
            <a:prstGeom prst="rect">
              <a:avLst/>
            </a:prstGeom>
            <a:solidFill>
              <a:srgbClr val="FA9E26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250-158-38</a:t>
              </a:r>
            </a:p>
          </p:txBody>
        </p:sp>
        <p:sp>
          <p:nvSpPr>
            <p:cNvPr id="11" name="Rectangle 10"/>
            <p:cNvSpPr/>
            <p:nvPr userDrawn="1"/>
          </p:nvSpPr>
          <p:spPr bwMode="auto">
            <a:xfrm flipH="1">
              <a:off x="-1219200" y="4768088"/>
              <a:ext cx="857250" cy="857250"/>
            </a:xfrm>
            <a:prstGeom prst="rect">
              <a:avLst/>
            </a:prstGeom>
            <a:solidFill>
              <a:srgbClr val="64A544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100-165-68</a:t>
              </a:r>
            </a:p>
          </p:txBody>
        </p:sp>
        <p:sp>
          <p:nvSpPr>
            <p:cNvPr id="12" name="Rectangle 11"/>
            <p:cNvSpPr/>
            <p:nvPr userDrawn="1"/>
          </p:nvSpPr>
          <p:spPr bwMode="auto">
            <a:xfrm flipH="1">
              <a:off x="-1219200" y="5807710"/>
              <a:ext cx="857250" cy="857250"/>
            </a:xfrm>
            <a:prstGeom prst="rect">
              <a:avLst/>
            </a:prstGeom>
            <a:solidFill>
              <a:srgbClr val="707070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 pitchFamily="34" charset="0"/>
                  <a:ea typeface="+mj-ea"/>
                </a:rPr>
                <a:t>112-112-112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129" y="6400800"/>
            <a:ext cx="1466471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  <p:sldLayoutId id="2147483661" r:id="rId3"/>
    <p:sldLayoutId id="2147483663" r:id="rId4"/>
    <p:sldLayoutId id="2147483672" r:id="rId5"/>
    <p:sldLayoutId id="2147483673" r:id="rId6"/>
    <p:sldLayoutId id="2147483674" r:id="rId7"/>
    <p:sldLayoutId id="2147483665" r:id="rId8"/>
    <p:sldLayoutId id="2147483677" r:id="rId9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Genev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71450" indent="-171450" algn="l" defTabSz="1838325" rtl="0" eaLnBrk="1" fontAlgn="base" hangingPunct="1">
        <a:spcBef>
          <a:spcPct val="7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1pPr>
      <a:lvl2pPr marL="3429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/>
        <a:buChar char="–"/>
        <a:defRPr sz="1400" b="0">
          <a:solidFill>
            <a:srgbClr val="53565A"/>
          </a:solidFill>
          <a:latin typeface="+mn-lt"/>
          <a:ea typeface="+mn-ea"/>
          <a:cs typeface="+mn-cs"/>
        </a:defRPr>
      </a:lvl2pPr>
      <a:lvl3pPr marL="5143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"/>
        <a:defRPr sz="1400" b="0">
          <a:solidFill>
            <a:srgbClr val="53565A"/>
          </a:solidFill>
          <a:latin typeface="+mn-lt"/>
          <a:ea typeface="+mn-ea"/>
          <a:cs typeface="+mn-cs"/>
        </a:defRPr>
      </a:lvl3pPr>
      <a:lvl4pPr marL="6858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○"/>
        <a:defRPr sz="1400" b="0">
          <a:solidFill>
            <a:srgbClr val="53565A"/>
          </a:solidFill>
          <a:latin typeface="+mn-lt"/>
          <a:ea typeface="+mn-ea"/>
          <a:cs typeface="+mn-cs"/>
        </a:defRPr>
      </a:lvl4pPr>
      <a:lvl5pPr marL="8572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5pPr>
      <a:lvl6pPr marL="10287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/>
        <a:buChar char="–"/>
        <a:defRPr sz="1400" b="0">
          <a:solidFill>
            <a:srgbClr val="53565A"/>
          </a:solidFill>
          <a:latin typeface="+mn-lt"/>
          <a:ea typeface="+mn-ea"/>
          <a:cs typeface="+mn-cs"/>
        </a:defRPr>
      </a:lvl6pPr>
      <a:lvl7pPr marL="12001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"/>
        <a:defRPr sz="1400" b="0">
          <a:solidFill>
            <a:srgbClr val="53565A"/>
          </a:solidFill>
          <a:latin typeface="+mn-lt"/>
          <a:ea typeface="+mn-ea"/>
          <a:cs typeface="+mn-cs"/>
        </a:defRPr>
      </a:lvl7pPr>
      <a:lvl8pPr marL="137160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○"/>
        <a:defRPr sz="1400" b="0">
          <a:solidFill>
            <a:srgbClr val="53565A"/>
          </a:solidFill>
          <a:latin typeface="+mn-lt"/>
          <a:ea typeface="+mn-ea"/>
          <a:cs typeface="+mn-cs"/>
        </a:defRPr>
      </a:lvl8pPr>
      <a:lvl9pPr marL="1543050" indent="-171450" algn="l" defTabSz="1838325" rtl="0" eaLnBrk="1" fontAlgn="base" hangingPunct="1">
        <a:spcBef>
          <a:spcPct val="25000"/>
        </a:spcBef>
        <a:spcAft>
          <a:spcPct val="0"/>
        </a:spcAft>
        <a:buClr>
          <a:schemeClr val="accent1"/>
        </a:buClr>
        <a:buSzPct val="100000"/>
        <a:buFont typeface="Symbol"/>
        <a:buChar char="·"/>
        <a:defRPr sz="1400" b="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6149" userDrawn="1">
          <p15:clr>
            <a:srgbClr val="F26B43"/>
          </p15:clr>
        </p15:guide>
        <p15:guide id="4" pos="96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4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 txBox="1">
            <a:spLocks noChangeArrowheads="1"/>
          </p:cNvSpPr>
          <p:nvPr/>
        </p:nvSpPr>
        <p:spPr bwMode="gray">
          <a:xfrm>
            <a:off x="457200" y="2885789"/>
            <a:ext cx="729585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1838325" rtl="0" eaLnBrk="1" fontAlgn="base" hangingPunct="1"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defRPr sz="2000" b="0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5pPr>
            <a:lvl6pPr marL="10287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6pPr>
            <a:lvl7pPr marL="12001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7pPr>
            <a:lvl8pPr marL="13716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8pPr>
            <a:lvl9pPr marL="15430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 Light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gray">
          <a:xfrm>
            <a:off x="457199" y="3822049"/>
            <a:ext cx="107026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微軟正黑體"/>
              </a:rPr>
              <a:t>Octo</a:t>
            </a:r>
            <a:r>
              <a:rPr kumimoji="0" lang="en-US" sz="11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ber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,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8" name="Rectangle 13"/>
          <p:cNvSpPr txBox="1">
            <a:spLocks noChangeArrowheads="1"/>
          </p:cNvSpPr>
          <p:nvPr/>
        </p:nvSpPr>
        <p:spPr bwMode="gray">
          <a:xfrm>
            <a:off x="457199" y="2376345"/>
            <a:ext cx="676976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1838325" rtl="0" eaLnBrk="1" fontAlgn="base" hangingPunct="1"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defRPr sz="2000" b="0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3429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2pPr>
            <a:lvl3pPr marL="5143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5pPr>
            <a:lvl6pPr marL="10287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/>
              <a:buChar char="–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6pPr>
            <a:lvl7pPr marL="12001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Wingdings" panose="05000000000000000000" pitchFamily="2" charset="2"/>
              <a:buChar char="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7pPr>
            <a:lvl8pPr marL="137160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8pPr>
            <a:lvl9pPr marL="1543050" indent="-171450" algn="l" defTabSz="1838325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/>
              <a:buChar char="·"/>
              <a:defRPr sz="1400" b="0">
                <a:solidFill>
                  <a:srgbClr val="53565A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  <a:t>NXP S32K3xx </a:t>
            </a:r>
            <a:br>
              <a:rPr lang="en-US" sz="2800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</a:br>
            <a:r>
              <a:rPr lang="en-US" sz="2800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  <a:t>Low Power Management</a:t>
            </a:r>
          </a:p>
          <a:p>
            <a:pPr marL="0" marR="0" lvl="0" indent="0" algn="l" defTabSz="1838325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rgbClr val="97999B"/>
              </a:buClr>
              <a:buSzPct val="100000"/>
              <a:buFont typeface="Symbol" pitchFamily="18" charset="2"/>
              <a:buNone/>
              <a:tabLst/>
              <a:defRPr/>
            </a:pPr>
            <a:r>
              <a:rPr lang="en-US" b="1" dirty="0">
                <a:solidFill>
                  <a:srgbClr val="FFFFFF"/>
                </a:solidFill>
                <a:latin typeface="Arial"/>
                <a:ea typeface="Times New Roman" panose="02020603050405020304" pitchFamily="18" charset="0"/>
              </a:rPr>
              <a:t>David Kang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83193"/>
            <a:ext cx="3326884" cy="7700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987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E9847-DD8D-696A-D5BE-2361A2F9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06689"/>
            <a:ext cx="9601200" cy="5624740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altLang="ko-KR" b="1" dirty="0"/>
              <a:t>Low Power </a:t>
            </a:r>
            <a:r>
              <a:rPr lang="ko-KR" altLang="en-US" b="1" dirty="0"/>
              <a:t>모드 개요 및 필요성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저전력 관리의 필요성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en-US" altLang="ko-KR" b="1" dirty="0"/>
              <a:t>S32K3xx </a:t>
            </a:r>
            <a:r>
              <a:rPr lang="ko-KR" altLang="en-US" b="1" dirty="0"/>
              <a:t>저전력 모드 체계</a:t>
            </a:r>
            <a:endParaRPr lang="en-US" altLang="ko-KR" b="1" dirty="0"/>
          </a:p>
          <a:p>
            <a:pPr marL="514350" lvl="1" indent="-342900">
              <a:buAutoNum type="alphaLcPeriod"/>
            </a:pPr>
            <a:r>
              <a:rPr lang="ko-KR" altLang="en-US" b="1" dirty="0"/>
              <a:t>모드 구성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/>
              <a:t>CPU,</a:t>
            </a:r>
            <a:r>
              <a:rPr lang="ko-KR" altLang="en-US" b="1" dirty="0"/>
              <a:t>클럭</a:t>
            </a:r>
            <a:r>
              <a:rPr lang="en-US" altLang="ko-KR" b="1" dirty="0"/>
              <a:t>,</a:t>
            </a:r>
            <a:r>
              <a:rPr lang="ko-KR" altLang="en-US" b="1" dirty="0"/>
              <a:t>전원</a:t>
            </a:r>
            <a:r>
              <a:rPr lang="en-US" altLang="ko-KR" b="1" dirty="0"/>
              <a:t>,</a:t>
            </a:r>
            <a:r>
              <a:rPr lang="ko-KR" altLang="en-US" b="1" dirty="0"/>
              <a:t>메모리 관점의 동작 원리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en-US" altLang="ko-KR" b="1" dirty="0"/>
              <a:t>CPU </a:t>
            </a:r>
            <a:r>
              <a:rPr lang="ko-KR" altLang="en-US" b="1" dirty="0"/>
              <a:t>관점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클럭 관점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전원 관점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메모리 관점</a:t>
            </a:r>
            <a:endParaRPr lang="en-US" altLang="ko-KR" b="1" dirty="0"/>
          </a:p>
          <a:p>
            <a:pPr marL="342900" indent="-342900">
              <a:buFont typeface="Arial"/>
              <a:buAutoNum type="arabicPeriod"/>
            </a:pPr>
            <a:r>
              <a:rPr lang="ko-KR" altLang="en-US" b="1" dirty="0"/>
              <a:t>모드 간 전환</a:t>
            </a:r>
            <a:r>
              <a:rPr lang="en-US" altLang="ko-KR" b="1" dirty="0"/>
              <a:t>, </a:t>
            </a:r>
            <a:r>
              <a:rPr lang="ko-KR" altLang="en-US" b="1" dirty="0"/>
              <a:t>진입 조건 및 </a:t>
            </a:r>
            <a:r>
              <a:rPr lang="en-US" altLang="ko-KR" b="1" dirty="0"/>
              <a:t>Wake-Up </a:t>
            </a:r>
            <a:r>
              <a:rPr lang="ko-KR" altLang="en-US" b="1" dirty="0"/>
              <a:t>후 실행 흐름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모드 상태 변이 흐름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en-US" altLang="ko-KR" b="1" dirty="0"/>
              <a:t>Standby </a:t>
            </a:r>
            <a:r>
              <a:rPr lang="ko-KR" altLang="en-US" b="1" dirty="0"/>
              <a:t>진입 선행 조건 </a:t>
            </a:r>
            <a:r>
              <a:rPr lang="en-US" altLang="ko-KR" b="1" dirty="0"/>
              <a:t>(Software Entry Checklist)</a:t>
            </a:r>
          </a:p>
          <a:p>
            <a:pPr marL="514350" lvl="1" indent="-342900">
              <a:buFont typeface="Arial"/>
              <a:buAutoNum type="alphaLcPeriod"/>
            </a:pPr>
            <a:r>
              <a:rPr lang="en-US" altLang="ko-KR" b="1" dirty="0"/>
              <a:t>Wake-up </a:t>
            </a:r>
            <a:r>
              <a:rPr lang="ko-KR" altLang="en-US" b="1" dirty="0"/>
              <a:t>시퀀스 및 실행 흐름 </a:t>
            </a:r>
            <a:r>
              <a:rPr lang="en-US" altLang="ko-KR" b="1" dirty="0"/>
              <a:t>(Normal vs Fast Exit)</a:t>
            </a:r>
          </a:p>
          <a:p>
            <a:pPr marL="514350" lvl="1" indent="-342900">
              <a:buFont typeface="Arial"/>
              <a:buAutoNum type="alphaLcPeriod"/>
            </a:pPr>
            <a:r>
              <a:rPr lang="en-US" altLang="ko-KR" b="1" dirty="0"/>
              <a:t>Wake-up </a:t>
            </a:r>
            <a:r>
              <a:rPr lang="ko-KR" altLang="en-US" b="1" dirty="0"/>
              <a:t>시간 측정값 및 측정 조건</a:t>
            </a:r>
            <a:endParaRPr lang="en-US" altLang="ko-KR" b="1" dirty="0"/>
          </a:p>
          <a:p>
            <a:pPr marL="342900" indent="-342900">
              <a:buFont typeface="Arial"/>
              <a:buAutoNum type="arabicPeriod"/>
            </a:pPr>
            <a:r>
              <a:rPr lang="ko-KR" altLang="en-US" b="1" dirty="0"/>
              <a:t>모드별 비교 및 </a:t>
            </a:r>
            <a:r>
              <a:rPr lang="en-US" altLang="ko-KR" b="1" dirty="0"/>
              <a:t>Application </a:t>
            </a:r>
            <a:r>
              <a:rPr lang="ko-KR" altLang="en-US" b="1" dirty="0"/>
              <a:t>선택 기준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모드별 핵심 특성 비교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en-US" altLang="ko-KR" b="1" dirty="0"/>
              <a:t>Application</a:t>
            </a:r>
            <a:r>
              <a:rPr lang="ko-KR" altLang="en-US" b="1" dirty="0"/>
              <a:t> 별 모드 선택 가이드</a:t>
            </a:r>
            <a:endParaRPr lang="en-US" altLang="ko-KR" b="1" dirty="0"/>
          </a:p>
          <a:p>
            <a:pPr marL="514350" lvl="1" indent="-342900">
              <a:buFont typeface="Arial"/>
              <a:buAutoNum type="alphaLcPeriod"/>
            </a:pPr>
            <a:r>
              <a:rPr lang="ko-KR" altLang="en-US" b="1" dirty="0"/>
              <a:t>소비 전류 수치 관련</a:t>
            </a:r>
            <a:endParaRPr lang="en-US" altLang="ko-KR" b="1" dirty="0"/>
          </a:p>
          <a:p>
            <a:pPr marL="342900" indent="-342900">
              <a:buFont typeface="Arial"/>
              <a:buAutoNum type="arabicPeriod"/>
            </a:pPr>
            <a:r>
              <a:rPr lang="ko-KR" altLang="en-US" b="1" dirty="0"/>
              <a:t>저전력 전류 측정 수칙</a:t>
            </a:r>
            <a:endParaRPr lang="en-US" altLang="ko-KR" b="1" dirty="0"/>
          </a:p>
          <a:p>
            <a:pPr marL="342900" indent="-342900">
              <a:buFont typeface="Arial"/>
              <a:buAutoNum type="arabicPeriod"/>
            </a:pPr>
            <a:endParaRPr lang="en-US" altLang="ko-KR" b="1" dirty="0"/>
          </a:p>
          <a:p>
            <a:pPr marL="342900" indent="-342900">
              <a:buFont typeface="Arial"/>
              <a:buAutoNum type="arabicPeriod"/>
            </a:pPr>
            <a:endParaRPr lang="en-US" altLang="ko-KR" b="1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F5B39DC-90CE-F5C6-763A-1808F9B4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47814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68496F-1CAE-E595-5DED-D9420CFDF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8"/>
            <a:ext cx="9601200" cy="771556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저전력 관리의 필요성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차량 및 산업용 </a:t>
            </a:r>
            <a:r>
              <a:rPr lang="en-US" altLang="ko-KR" dirty="0"/>
              <a:t>ECU </a:t>
            </a:r>
            <a:r>
              <a:rPr lang="ko-KR" altLang="en-US" dirty="0"/>
              <a:t>최적화 </a:t>
            </a:r>
            <a:r>
              <a:rPr lang="en-US" altLang="ko-KR" dirty="0"/>
              <a:t>: </a:t>
            </a:r>
            <a:r>
              <a:rPr lang="ko-KR" altLang="en-US" dirty="0"/>
              <a:t>시동 </a:t>
            </a:r>
            <a:r>
              <a:rPr lang="en-US" altLang="ko-KR" dirty="0"/>
              <a:t>OFF </a:t>
            </a:r>
            <a:r>
              <a:rPr lang="ko-KR" altLang="en-US" dirty="0"/>
              <a:t>상태에서의 대기 전류</a:t>
            </a:r>
            <a:r>
              <a:rPr lang="en-US" altLang="ko-KR" dirty="0"/>
              <a:t>(Quiescent Current)</a:t>
            </a:r>
            <a:r>
              <a:rPr lang="ko-KR" altLang="en-US" dirty="0"/>
              <a:t>를 최소화 하여 배터리 방전을 방지하고</a:t>
            </a:r>
            <a:r>
              <a:rPr lang="en-US" altLang="ko-KR" dirty="0"/>
              <a:t>, </a:t>
            </a:r>
            <a:r>
              <a:rPr lang="ko-KR" altLang="en-US" dirty="0"/>
              <a:t>열 관리 및 전력 효율을 극대화 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01C688F-0ABA-51AB-4473-15361114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1. Low Power </a:t>
            </a:r>
            <a:r>
              <a:rPr lang="ko-KR" altLang="en-US" b="1" dirty="0"/>
              <a:t>모드 개요 및 필요성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2878EC-3FC1-0710-A9F5-9EF1962D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76" y="2174162"/>
            <a:ext cx="8058604" cy="33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8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3F7B-DFEC-4E7F-E0BB-ED4C4522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471C85-6693-B990-18A0-7A54ED26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8"/>
            <a:ext cx="9601200" cy="771556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b. S32K3xx </a:t>
            </a:r>
            <a:r>
              <a:rPr lang="ko-KR" altLang="en-US" b="1" dirty="0"/>
              <a:t>저전력 모드 체계</a:t>
            </a:r>
            <a:endParaRPr lang="en-US" altLang="ko-KR" b="1" dirty="0"/>
          </a:p>
          <a:p>
            <a:pPr marL="171450" lvl="1" indent="0">
              <a:buNone/>
            </a:pPr>
            <a:r>
              <a:rPr lang="en-US" altLang="ko-KR" b="1" dirty="0"/>
              <a:t>- </a:t>
            </a:r>
            <a:r>
              <a:rPr lang="ko-KR" altLang="ko-KR" dirty="0"/>
              <a:t>S32K3xx 계열은 일반 임베디드 시스템 모드(</a:t>
            </a:r>
            <a:r>
              <a:rPr lang="ko-KR" altLang="ko-KR" dirty="0" err="1"/>
              <a:t>Run</a:t>
            </a:r>
            <a:r>
              <a:rPr lang="ko-KR" altLang="ko-KR" dirty="0"/>
              <a:t>, </a:t>
            </a:r>
            <a:r>
              <a:rPr lang="ko-KR" altLang="ko-KR" dirty="0" err="1"/>
              <a:t>Wait</a:t>
            </a:r>
            <a:r>
              <a:rPr lang="ko-KR" altLang="ko-KR" dirty="0"/>
              <a:t>, </a:t>
            </a:r>
            <a:r>
              <a:rPr lang="ko-KR" altLang="ko-KR" dirty="0" err="1"/>
              <a:t>Stop</a:t>
            </a:r>
            <a:r>
              <a:rPr lang="ko-KR" altLang="ko-KR" dirty="0"/>
              <a:t>) 및 ARM Cortex-M7 코어 상태(</a:t>
            </a:r>
            <a:r>
              <a:rPr lang="ko-KR" altLang="ko-KR" dirty="0" err="1"/>
              <a:t>Run</a:t>
            </a:r>
            <a:r>
              <a:rPr lang="ko-KR" altLang="ko-KR" dirty="0"/>
              <a:t>, </a:t>
            </a:r>
            <a:r>
              <a:rPr lang="ko-KR" altLang="ko-KR" dirty="0" err="1"/>
              <a:t>Sleep</a:t>
            </a:r>
            <a:r>
              <a:rPr lang="ko-KR" altLang="ko-KR" dirty="0"/>
              <a:t>, </a:t>
            </a:r>
            <a:r>
              <a:rPr lang="ko-KR" altLang="ko-KR" dirty="0" err="1"/>
              <a:t>Deep</a:t>
            </a:r>
            <a:r>
              <a:rPr lang="ko-KR" altLang="ko-KR" dirty="0"/>
              <a:t> </a:t>
            </a:r>
            <a:r>
              <a:rPr lang="ko-KR" altLang="ko-KR" dirty="0" err="1"/>
              <a:t>Sleep</a:t>
            </a:r>
            <a:r>
              <a:rPr lang="ko-KR" altLang="ko-KR" dirty="0"/>
              <a:t>)와 </a:t>
            </a:r>
            <a:r>
              <a:rPr lang="ko-KR" altLang="ko-KR" dirty="0" err="1"/>
              <a:t>매핑되는</a:t>
            </a:r>
            <a:r>
              <a:rPr lang="ko-KR" altLang="ko-KR" dirty="0"/>
              <a:t> 3가지 핵심 전력 모드를 지원합니다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4BF7B57-FB34-34F1-BA67-AEC62862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1. Low Power </a:t>
            </a:r>
            <a:r>
              <a:rPr lang="ko-KR" altLang="en-US" b="1" dirty="0"/>
              <a:t>모드 개요 및 필요성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787A9E-6091-091D-AFE3-D0DE37F3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62" y="1747603"/>
            <a:ext cx="6630325" cy="3362794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F41D9C6-CBE2-0EE5-0285-B93C33ECE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17930"/>
              </p:ext>
            </p:extLst>
          </p:nvPr>
        </p:nvGraphicFramePr>
        <p:xfrm>
          <a:off x="1660988" y="5165823"/>
          <a:ext cx="66039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3023103520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2614433903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3027082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VLSRun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Standby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90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 동작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저전력 </a:t>
                      </a:r>
                      <a:r>
                        <a:rPr lang="en-US" altLang="ko-KR" dirty="0"/>
                        <a:t>&amp; CLOCK </a:t>
                      </a:r>
                      <a:r>
                        <a:rPr lang="ko-KR" altLang="en-US" dirty="0" err="1"/>
                        <a:t>스위칭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DeepSleep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모드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최소 전력 소비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4223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2C79464-A645-5C5F-2B42-6242147F0F97}"/>
              </a:ext>
            </a:extLst>
          </p:cNvPr>
          <p:cNvSpPr/>
          <p:nvPr/>
        </p:nvSpPr>
        <p:spPr bwMode="auto">
          <a:xfrm>
            <a:off x="3978817" y="1747603"/>
            <a:ext cx="1889760" cy="296373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4867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07F35-A263-4386-B432-5B3F86AC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9F7BC4F-932C-D360-7B3E-67056E1F1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8"/>
            <a:ext cx="9601200" cy="771556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모드 구성</a:t>
            </a:r>
            <a:endParaRPr lang="en-US" altLang="ko-KR" b="1" dirty="0"/>
          </a:p>
          <a:p>
            <a:pPr marL="171450" lvl="1" indent="0">
              <a:buNone/>
            </a:pPr>
            <a:r>
              <a:rPr lang="en-US" altLang="ko-KR" b="1" dirty="0"/>
              <a:t>- </a:t>
            </a:r>
            <a:r>
              <a:rPr lang="ko-KR" altLang="en-US" dirty="0"/>
              <a:t>아래는 </a:t>
            </a:r>
            <a:r>
              <a:rPr lang="en-US" altLang="ko-KR" dirty="0"/>
              <a:t>Cortex M7</a:t>
            </a:r>
            <a:r>
              <a:rPr lang="ko-KR" altLang="en-US" dirty="0"/>
              <a:t>의 </a:t>
            </a:r>
            <a:r>
              <a:rPr lang="en-US" altLang="ko-KR" dirty="0"/>
              <a:t>Sleep Architecture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4A8A31B-0D78-691D-AF73-5952A428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1. Low Power </a:t>
            </a:r>
            <a:r>
              <a:rPr lang="ko-KR" altLang="en-US" b="1" dirty="0"/>
              <a:t>모드 개요 및 필요성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EA890B-BE71-6283-E0C5-B3F0D17AB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04" y="2257629"/>
            <a:ext cx="7465242" cy="340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7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8D4AB-EB52-6DD9-EFF4-A0DAFFED1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04B8A5-9906-EE02-6D5C-A195E4255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8"/>
            <a:ext cx="9601200" cy="969382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모드 구성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ko-KR" dirty="0"/>
              <a:t>S32K3는 </a:t>
            </a:r>
            <a:r>
              <a:rPr lang="ko-KR" altLang="ko-KR" dirty="0" err="1"/>
              <a:t>Run</a:t>
            </a:r>
            <a:r>
              <a:rPr lang="ko-KR" altLang="ko-KR" dirty="0"/>
              <a:t>, VLSR, </a:t>
            </a:r>
            <a:r>
              <a:rPr lang="ko-KR" altLang="ko-KR" dirty="0" err="1"/>
              <a:t>Standby의</a:t>
            </a:r>
            <a:r>
              <a:rPr lang="ko-KR" altLang="ko-KR" dirty="0"/>
              <a:t> 세 가지 주요 전력 모드를 제공</a:t>
            </a:r>
            <a:r>
              <a:rPr lang="ko-KR" altLang="en-US" dirty="0"/>
              <a:t>합니</a:t>
            </a:r>
            <a:r>
              <a:rPr lang="ko-KR" altLang="ko-KR" dirty="0"/>
              <a:t>다. </a:t>
            </a:r>
            <a:r>
              <a:rPr lang="ko-KR" altLang="ko-KR" dirty="0" err="1"/>
              <a:t>Run과</a:t>
            </a:r>
            <a:r>
              <a:rPr lang="ko-KR" altLang="ko-KR" dirty="0"/>
              <a:t> </a:t>
            </a:r>
            <a:r>
              <a:rPr lang="ko-KR" altLang="ko-KR" dirty="0" err="1"/>
              <a:t>VLSR에서는</a:t>
            </a:r>
            <a:r>
              <a:rPr lang="ko-KR" altLang="ko-KR" dirty="0"/>
              <a:t> </a:t>
            </a:r>
            <a:r>
              <a:rPr lang="ko-KR" altLang="ko-KR" dirty="0" err="1"/>
              <a:t>CPU가</a:t>
            </a:r>
            <a:r>
              <a:rPr lang="ko-KR" altLang="ko-KR" dirty="0"/>
              <a:t> 실행되며, </a:t>
            </a:r>
            <a:r>
              <a:rPr lang="ko-KR" altLang="ko-KR" dirty="0" err="1"/>
              <a:t>Standby에서는</a:t>
            </a:r>
            <a:r>
              <a:rPr lang="ko-KR" altLang="ko-KR" dirty="0"/>
              <a:t> </a:t>
            </a:r>
            <a:r>
              <a:rPr lang="ko-KR" altLang="ko-KR" dirty="0" err="1"/>
              <a:t>Run</a:t>
            </a:r>
            <a:r>
              <a:rPr lang="ko-KR" altLang="ko-KR" dirty="0"/>
              <a:t> 도메인을 차단하고 </a:t>
            </a:r>
            <a:r>
              <a:rPr lang="ko-KR" altLang="ko-KR" dirty="0" err="1"/>
              <a:t>Standby</a:t>
            </a:r>
            <a:r>
              <a:rPr lang="ko-KR" altLang="ko-KR" dirty="0"/>
              <a:t> 도메인의 필요한 기능을 유지</a:t>
            </a:r>
            <a:r>
              <a:rPr lang="ko-KR" altLang="en-US" dirty="0"/>
              <a:t>합니</a:t>
            </a:r>
            <a:r>
              <a:rPr lang="ko-KR" altLang="ko-KR" dirty="0"/>
              <a:t>다.</a:t>
            </a:r>
            <a:r>
              <a:rPr lang="en-US" altLang="ko-KR" dirty="0"/>
              <a:t> </a:t>
            </a:r>
          </a:p>
          <a:p>
            <a:pPr lvl="1">
              <a:buFontTx/>
              <a:buChar char="-"/>
            </a:pPr>
            <a:r>
              <a:rPr lang="en-US" altLang="ko-KR" dirty="0"/>
              <a:t>Sleep </a:t>
            </a:r>
            <a:r>
              <a:rPr lang="ko-KR" altLang="en-US" dirty="0"/>
              <a:t>모드에 해당하는 모드를 사용하기 위해서는 </a:t>
            </a:r>
            <a:r>
              <a:rPr lang="en-US" altLang="ko-KR" dirty="0"/>
              <a:t>WFI(Wait For Interrupt)</a:t>
            </a:r>
            <a:r>
              <a:rPr lang="ko-KR" altLang="en-US" dirty="0"/>
              <a:t>를 활용하여 </a:t>
            </a:r>
            <a:r>
              <a:rPr lang="ko-KR" altLang="en-US" b="1" dirty="0"/>
              <a:t>유사한 동작의 구현</a:t>
            </a:r>
            <a:r>
              <a:rPr lang="ko-KR" altLang="en-US" dirty="0"/>
              <a:t>이 가능합니다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C42B70-B832-8191-D79F-67C161EC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1450" indent="-17145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1. Low Power </a:t>
            </a:r>
            <a:r>
              <a:rPr lang="ko-KR" altLang="en-US" b="1" dirty="0"/>
              <a:t>모드 개요 및 필요성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CA4C00-CBF0-F26A-52AF-F6329876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46" y="2503351"/>
            <a:ext cx="6866708" cy="347764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ED13A14-9A7F-18CF-A48A-2BCEEBF2C345}"/>
              </a:ext>
            </a:extLst>
          </p:cNvPr>
          <p:cNvSpPr/>
          <p:nvPr/>
        </p:nvSpPr>
        <p:spPr bwMode="auto">
          <a:xfrm>
            <a:off x="6339838" y="3196046"/>
            <a:ext cx="496391" cy="31350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ECB29A-8D93-25EC-C477-0CA65859C910}"/>
              </a:ext>
            </a:extLst>
          </p:cNvPr>
          <p:cNvSpPr/>
          <p:nvPr/>
        </p:nvSpPr>
        <p:spPr bwMode="auto">
          <a:xfrm>
            <a:off x="6339838" y="4341223"/>
            <a:ext cx="496391" cy="31350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D7A42B-B080-F997-D50C-17898C033261}"/>
              </a:ext>
            </a:extLst>
          </p:cNvPr>
          <p:cNvSpPr/>
          <p:nvPr/>
        </p:nvSpPr>
        <p:spPr bwMode="auto">
          <a:xfrm>
            <a:off x="6339838" y="5347064"/>
            <a:ext cx="496391" cy="461554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027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BD6F-B32C-E225-D14B-A568F392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F6C5606-A668-6679-03F7-BFE28DB9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738664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2. CPU,</a:t>
            </a:r>
            <a:r>
              <a:rPr lang="ko-KR" altLang="en-US" b="1" dirty="0"/>
              <a:t>클럭</a:t>
            </a:r>
            <a:r>
              <a:rPr lang="en-US" altLang="ko-KR" b="1" dirty="0"/>
              <a:t>,</a:t>
            </a:r>
            <a:r>
              <a:rPr lang="ko-KR" altLang="en-US" b="1" dirty="0"/>
              <a:t>전원</a:t>
            </a:r>
            <a:r>
              <a:rPr lang="en-US" altLang="ko-KR" b="1" dirty="0"/>
              <a:t>,</a:t>
            </a:r>
            <a:r>
              <a:rPr lang="ko-KR" altLang="en-US" b="1" dirty="0"/>
              <a:t>메모리 관점의 동작 원리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E1F0C18-F1A0-A5B7-7FBD-A6CD3F6F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8"/>
            <a:ext cx="9601200" cy="1552856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CPU </a:t>
            </a:r>
            <a:r>
              <a:rPr lang="ko-KR" altLang="en-US" b="1" dirty="0"/>
              <a:t>관점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진입 명령어 </a:t>
            </a:r>
            <a:r>
              <a:rPr lang="en-US" altLang="ko-KR" dirty="0"/>
              <a:t>: WFI (Wait For Interrupt) </a:t>
            </a:r>
            <a:r>
              <a:rPr lang="ko-KR" altLang="en-US" dirty="0"/>
              <a:t>명령어를 통해 </a:t>
            </a:r>
            <a:r>
              <a:rPr lang="en-US" altLang="ko-KR" dirty="0"/>
              <a:t>Sleep </a:t>
            </a:r>
            <a:r>
              <a:rPr lang="ko-KR" altLang="en-US" dirty="0"/>
              <a:t>및 </a:t>
            </a:r>
            <a:r>
              <a:rPr lang="en-US" altLang="ko-KR" dirty="0"/>
              <a:t>Deep Sleep </a:t>
            </a:r>
            <a:r>
              <a:rPr lang="ko-KR" altLang="en-US" dirty="0"/>
              <a:t>상태로 진입이 가능합니다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ko-KR" altLang="en-US" dirty="0"/>
              <a:t>레지스터 설정 </a:t>
            </a:r>
            <a:r>
              <a:rPr lang="en-US" altLang="ko-KR" dirty="0"/>
              <a:t>: System Control Register</a:t>
            </a:r>
            <a:r>
              <a:rPr lang="ko-KR" altLang="en-US" dirty="0"/>
              <a:t>의 </a:t>
            </a:r>
            <a:r>
              <a:rPr lang="en-US" altLang="ko-KR" dirty="0"/>
              <a:t>SCR[SLEEPDEEP] </a:t>
            </a:r>
            <a:r>
              <a:rPr lang="ko-KR" altLang="en-US" dirty="0"/>
              <a:t>비트를 </a:t>
            </a:r>
            <a:r>
              <a:rPr lang="en-US" altLang="ko-KR" dirty="0"/>
              <a:t>1</a:t>
            </a:r>
            <a:r>
              <a:rPr lang="ko-KR" altLang="en-US" dirty="0"/>
              <a:t>로 </a:t>
            </a:r>
            <a:r>
              <a:rPr lang="en-US" altLang="ko-KR" dirty="0"/>
              <a:t>Set </a:t>
            </a:r>
            <a:r>
              <a:rPr lang="ko-KR" altLang="en-US" dirty="0"/>
              <a:t>하여 </a:t>
            </a:r>
            <a:r>
              <a:rPr lang="en-US" altLang="ko-KR" dirty="0"/>
              <a:t>Standby(</a:t>
            </a:r>
            <a:r>
              <a:rPr lang="en-US" altLang="ko-KR" dirty="0" err="1"/>
              <a:t>DeepSleep</a:t>
            </a:r>
            <a:r>
              <a:rPr lang="en-US" altLang="ko-KR" dirty="0"/>
              <a:t>)</a:t>
            </a:r>
            <a:r>
              <a:rPr lang="ko-KR" altLang="en-US" dirty="0"/>
              <a:t>를 지정할 수 있습니다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ko-KR" altLang="en-US" dirty="0"/>
              <a:t>비동기 기상 처리 </a:t>
            </a:r>
            <a:r>
              <a:rPr lang="en-US" altLang="ko-KR" dirty="0"/>
              <a:t>: Standby </a:t>
            </a:r>
            <a:r>
              <a:rPr lang="ko-KR" altLang="en-US" dirty="0"/>
              <a:t>진입 시 </a:t>
            </a:r>
            <a:r>
              <a:rPr lang="en-US" altLang="ko-KR" dirty="0"/>
              <a:t>CPU </a:t>
            </a:r>
            <a:r>
              <a:rPr lang="ko-KR" altLang="en-US" dirty="0"/>
              <a:t>및 </a:t>
            </a:r>
            <a:r>
              <a:rPr lang="en-US" altLang="ko-KR" dirty="0"/>
              <a:t>NVIC </a:t>
            </a:r>
            <a:r>
              <a:rPr lang="ko-KR" altLang="en-US" dirty="0" err="1"/>
              <a:t>클록이</a:t>
            </a:r>
            <a:r>
              <a:rPr lang="ko-KR" altLang="en-US" dirty="0"/>
              <a:t> 켜지지 않으므로</a:t>
            </a:r>
            <a:r>
              <a:rPr lang="en-US" altLang="ko-KR" dirty="0"/>
              <a:t>, AWIC(Asynchronous Wakeup Interrupt Controller)</a:t>
            </a:r>
            <a:r>
              <a:rPr lang="ko-KR" altLang="en-US" dirty="0"/>
              <a:t>가 외부 신호 및 지정된 </a:t>
            </a:r>
            <a:r>
              <a:rPr lang="en-US" altLang="ko-KR" dirty="0"/>
              <a:t>Wakeup </a:t>
            </a:r>
            <a:r>
              <a:rPr lang="ko-KR" altLang="en-US" dirty="0"/>
              <a:t>이벤트를 비동기로 감지합니다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82D12F-2831-CD0E-F9B2-C74B353B7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3553255"/>
            <a:ext cx="7162802" cy="88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6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B501A-2EAD-2CC5-8E38-6F488EA7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2220E8A-91C7-112C-A43D-31F75BF0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738664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2. CPU,</a:t>
            </a:r>
            <a:r>
              <a:rPr lang="ko-KR" altLang="en-US" b="1" dirty="0"/>
              <a:t>클럭</a:t>
            </a:r>
            <a:r>
              <a:rPr lang="en-US" altLang="ko-KR" b="1" dirty="0"/>
              <a:t>,</a:t>
            </a:r>
            <a:r>
              <a:rPr lang="ko-KR" altLang="en-US" b="1" dirty="0"/>
              <a:t>전원</a:t>
            </a:r>
            <a:r>
              <a:rPr lang="en-US" altLang="ko-KR" b="1" dirty="0"/>
              <a:t>,</a:t>
            </a:r>
            <a:r>
              <a:rPr lang="ko-KR" altLang="en-US" b="1" dirty="0"/>
              <a:t>메모리 관점의 동작 원리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CC3C4E2C-43A5-A5FD-B3D7-19000001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920377"/>
            <a:ext cx="9601200" cy="2319212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b. </a:t>
            </a:r>
            <a:r>
              <a:rPr lang="ko-KR" altLang="en-US" b="1" dirty="0"/>
              <a:t>클럭</a:t>
            </a:r>
            <a:r>
              <a:rPr lang="en-US" altLang="ko-KR" b="1" dirty="0"/>
              <a:t> </a:t>
            </a:r>
            <a:r>
              <a:rPr lang="ko-KR" altLang="en-US" b="1" dirty="0"/>
              <a:t>관점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클럭 소스 구성 </a:t>
            </a:r>
            <a:r>
              <a:rPr lang="en-US" altLang="ko-KR" dirty="0"/>
              <a:t>: </a:t>
            </a:r>
            <a:r>
              <a:rPr lang="ko-KR" altLang="ko-KR" dirty="0"/>
              <a:t>FIRC(48MHz/24MHz/3MHz), SIRC(32kHz), FXOSC(8~40MHz), SXOSC(32kHz), PLL(최대 160MHz)을 제공합니다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Standby </a:t>
            </a:r>
            <a:r>
              <a:rPr lang="ko-KR" altLang="en-US" dirty="0"/>
              <a:t>클럭 필수 전환 규칙 </a:t>
            </a:r>
            <a:r>
              <a:rPr lang="en-US" altLang="ko-KR" dirty="0"/>
              <a:t>: </a:t>
            </a:r>
          </a:p>
          <a:p>
            <a:pPr lvl="2">
              <a:buFontTx/>
              <a:buChar char="-"/>
            </a:pPr>
            <a:r>
              <a:rPr lang="en-US" altLang="ko-KR" dirty="0"/>
              <a:t>Standby </a:t>
            </a:r>
            <a:r>
              <a:rPr lang="ko-KR" altLang="en-US" dirty="0"/>
              <a:t>진입 전 </a:t>
            </a:r>
            <a:r>
              <a:rPr lang="en-US" altLang="ko-KR" dirty="0"/>
              <a:t>SYSCLK</a:t>
            </a:r>
            <a:r>
              <a:rPr lang="ko-KR" altLang="en-US" dirty="0"/>
              <a:t>를 반드시 </a:t>
            </a:r>
            <a:r>
              <a:rPr lang="en-US" altLang="ko-KR" dirty="0"/>
              <a:t>PLL -&gt; FIRC </a:t>
            </a:r>
            <a:r>
              <a:rPr lang="ko-KR" altLang="en-US" dirty="0"/>
              <a:t>로 </a:t>
            </a:r>
            <a:r>
              <a:rPr lang="ko-KR" altLang="en-US" dirty="0" err="1"/>
              <a:t>스위칭</a:t>
            </a:r>
            <a:r>
              <a:rPr lang="en-US" altLang="ko-KR" dirty="0"/>
              <a:t>, PLL </a:t>
            </a:r>
            <a:r>
              <a:rPr lang="ko-KR" altLang="en-US" dirty="0"/>
              <a:t>비활성화가 필요합니다</a:t>
            </a:r>
            <a:r>
              <a:rPr lang="en-US" altLang="ko-KR" dirty="0"/>
              <a:t>.</a:t>
            </a:r>
          </a:p>
          <a:p>
            <a:pPr lvl="2">
              <a:buFontTx/>
              <a:buChar char="-"/>
            </a:pPr>
            <a:r>
              <a:rPr lang="en-US" altLang="ko-KR" dirty="0"/>
              <a:t>Standby </a:t>
            </a:r>
            <a:r>
              <a:rPr lang="ko-KR" altLang="en-US" dirty="0"/>
              <a:t>진입 시 </a:t>
            </a:r>
            <a:r>
              <a:rPr lang="en-US" altLang="ko-KR" dirty="0"/>
              <a:t>FIRC</a:t>
            </a:r>
            <a:r>
              <a:rPr lang="ko-KR" altLang="en-US" dirty="0"/>
              <a:t>는 </a:t>
            </a:r>
            <a:r>
              <a:rPr lang="en-US" altLang="ko-KR" dirty="0"/>
              <a:t>24MHz</a:t>
            </a:r>
            <a:r>
              <a:rPr lang="ko-KR" altLang="en-US" dirty="0"/>
              <a:t> </a:t>
            </a:r>
            <a:r>
              <a:rPr lang="en-US" altLang="ko-KR" dirty="0"/>
              <a:t>or</a:t>
            </a:r>
            <a:r>
              <a:rPr lang="ko-KR" altLang="en-US" dirty="0"/>
              <a:t> </a:t>
            </a:r>
            <a:r>
              <a:rPr lang="en-US" altLang="ko-KR" dirty="0"/>
              <a:t>48Mhz</a:t>
            </a:r>
            <a:r>
              <a:rPr lang="ko-KR" altLang="en-US" dirty="0"/>
              <a:t> 로 활성화 되어야 합니다</a:t>
            </a:r>
            <a:r>
              <a:rPr lang="en-US" altLang="ko-KR" dirty="0"/>
              <a:t>. FIRC 3MHz </a:t>
            </a:r>
            <a:r>
              <a:rPr lang="ko-KR" altLang="en-US" dirty="0"/>
              <a:t>상태에서 </a:t>
            </a:r>
            <a:r>
              <a:rPr lang="en-US" altLang="ko-KR" dirty="0"/>
              <a:t>Standby </a:t>
            </a:r>
            <a:r>
              <a:rPr lang="ko-KR" altLang="en-US" dirty="0"/>
              <a:t>진입 시 </a:t>
            </a:r>
            <a:r>
              <a:rPr lang="en-US" altLang="ko-KR" dirty="0"/>
              <a:t>Stalling </a:t>
            </a:r>
            <a:r>
              <a:rPr lang="ko-KR" altLang="en-US" dirty="0"/>
              <a:t>현상이 발생하여 </a:t>
            </a:r>
            <a:r>
              <a:rPr lang="en-US" altLang="ko-KR" dirty="0"/>
              <a:t>Wakeup </a:t>
            </a:r>
            <a:r>
              <a:rPr lang="ko-KR" altLang="en-US" dirty="0"/>
              <a:t>이 </a:t>
            </a:r>
            <a:r>
              <a:rPr lang="ko-KR" altLang="en-US" dirty="0" err="1"/>
              <a:t>불가능해집니다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Peripheral Clock Gating : MC_ME(Mode Controller Module </a:t>
            </a:r>
            <a:r>
              <a:rPr lang="en-US" altLang="ko-KR" dirty="0" err="1"/>
              <a:t>Enbale</a:t>
            </a:r>
            <a:r>
              <a:rPr lang="en-US" altLang="ko-KR" dirty="0"/>
              <a:t>) </a:t>
            </a:r>
            <a:r>
              <a:rPr lang="ko-KR" altLang="en-US" dirty="0"/>
              <a:t>모듈의 </a:t>
            </a:r>
            <a:r>
              <a:rPr lang="en-US" altLang="ko-KR" dirty="0" err="1"/>
              <a:t>PRTNx_COFBx_CLKEN</a:t>
            </a:r>
            <a:r>
              <a:rPr lang="en-US" altLang="ko-KR" dirty="0"/>
              <a:t> </a:t>
            </a:r>
            <a:r>
              <a:rPr lang="ko-KR" altLang="en-US" dirty="0"/>
              <a:t>레지스터 내 </a:t>
            </a:r>
            <a:r>
              <a:rPr lang="en-US" altLang="ko-KR" dirty="0" err="1"/>
              <a:t>REQxx</a:t>
            </a:r>
            <a:r>
              <a:rPr lang="en-US" altLang="ko-KR" dirty="0"/>
              <a:t> </a:t>
            </a:r>
            <a:r>
              <a:rPr lang="ko-KR" altLang="en-US" dirty="0"/>
              <a:t>필드를 조절하여 사용하지 않는 주변장치 </a:t>
            </a:r>
            <a:r>
              <a:rPr lang="ko-KR" altLang="en-US" dirty="0" err="1"/>
              <a:t>클록을</a:t>
            </a:r>
            <a:r>
              <a:rPr lang="ko-KR" altLang="en-US" dirty="0"/>
              <a:t> 개별 차단합니다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BF0F86-96B9-9E0B-627C-E1BC969A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54" y="3789283"/>
            <a:ext cx="7778456" cy="231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0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53BB-F49F-3DB1-E3BB-F4862F63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AD42E2-9DC3-CD96-8591-AADA6B81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8" y="4189475"/>
            <a:ext cx="6792686" cy="2568993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E2ED22E8-3B1A-B086-6CF0-ACF7C91E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738664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2. CPU,</a:t>
            </a:r>
            <a:r>
              <a:rPr lang="ko-KR" altLang="en-US" b="1" dirty="0"/>
              <a:t>클럭</a:t>
            </a:r>
            <a:r>
              <a:rPr lang="en-US" altLang="ko-KR" b="1" dirty="0"/>
              <a:t>,</a:t>
            </a:r>
            <a:r>
              <a:rPr lang="ko-KR" altLang="en-US" b="1" dirty="0"/>
              <a:t>전원</a:t>
            </a:r>
            <a:r>
              <a:rPr lang="en-US" altLang="ko-KR" b="1" dirty="0"/>
              <a:t>,</a:t>
            </a:r>
            <a:r>
              <a:rPr lang="ko-KR" altLang="en-US" b="1" dirty="0"/>
              <a:t>메모리 관점의 동작 원리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81906C74-3A6C-B678-3704-5D0BC9091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246"/>
            <a:ext cx="9601200" cy="3181360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전원</a:t>
            </a:r>
            <a:r>
              <a:rPr lang="en-US" altLang="ko-KR" b="1" dirty="0"/>
              <a:t> </a:t>
            </a:r>
            <a:r>
              <a:rPr lang="ko-KR" altLang="en-US" b="1" dirty="0"/>
              <a:t>관점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전원 도메인 분리</a:t>
            </a:r>
            <a:r>
              <a:rPr lang="en-US" altLang="ko-KR" dirty="0"/>
              <a:t>: PMC(Power Management Controller)</a:t>
            </a:r>
            <a:r>
              <a:rPr lang="ko-KR" altLang="en-US" dirty="0"/>
              <a:t>는 </a:t>
            </a:r>
            <a:r>
              <a:rPr lang="en-US" altLang="ko-KR" dirty="0"/>
              <a:t>Run </a:t>
            </a:r>
            <a:r>
              <a:rPr lang="ko-KR" altLang="en-US" dirty="0"/>
              <a:t>도메인과 </a:t>
            </a:r>
            <a:r>
              <a:rPr lang="en-US" altLang="ko-KR" dirty="0"/>
              <a:t>Standby </a:t>
            </a:r>
            <a:r>
              <a:rPr lang="ko-KR" altLang="en-US" dirty="0"/>
              <a:t>도메인 전원을 물리적으로 분리 제어 합니다</a:t>
            </a:r>
            <a:r>
              <a:rPr lang="en-US" altLang="ko-KR" dirty="0"/>
              <a:t>.</a:t>
            </a:r>
          </a:p>
          <a:p>
            <a:pPr lvl="2">
              <a:buFontTx/>
              <a:buChar char="-"/>
            </a:pPr>
            <a:r>
              <a:rPr lang="en-US" altLang="ko-KR" dirty="0"/>
              <a:t>Run : PMC</a:t>
            </a:r>
            <a:r>
              <a:rPr lang="ko-KR" altLang="en-US" dirty="0"/>
              <a:t>의 </a:t>
            </a:r>
            <a:r>
              <a:rPr lang="en-US" altLang="ko-KR" dirty="0"/>
              <a:t>Last-mile regulator </a:t>
            </a:r>
            <a:r>
              <a:rPr lang="ko-KR" altLang="en-US" dirty="0"/>
              <a:t>가 코어 로직용 </a:t>
            </a:r>
            <a:r>
              <a:rPr lang="en-US" altLang="ko-KR" dirty="0"/>
              <a:t>1.1V(V11_RUN) </a:t>
            </a:r>
            <a:r>
              <a:rPr lang="ko-KR" altLang="en-US" dirty="0"/>
              <a:t>를 공급합니다</a:t>
            </a:r>
            <a:r>
              <a:rPr lang="en-US" altLang="ko-KR" dirty="0"/>
              <a:t>.</a:t>
            </a:r>
          </a:p>
          <a:p>
            <a:pPr lvl="2">
              <a:buFontTx/>
              <a:buChar char="-"/>
            </a:pPr>
            <a:r>
              <a:rPr lang="en-US" altLang="ko-KR" dirty="0"/>
              <a:t>Standby : Last-mile regulator </a:t>
            </a:r>
            <a:r>
              <a:rPr lang="ko-KR" altLang="en-US" dirty="0"/>
              <a:t>가 </a:t>
            </a:r>
            <a:r>
              <a:rPr lang="en-US" altLang="ko-KR" dirty="0"/>
              <a:t>Off(Run </a:t>
            </a:r>
            <a:r>
              <a:rPr lang="ko-KR" altLang="en-US" dirty="0"/>
              <a:t>도메인 </a:t>
            </a:r>
            <a:r>
              <a:rPr lang="en-US" altLang="ko-KR" dirty="0"/>
              <a:t>Power-gate)</a:t>
            </a:r>
            <a:r>
              <a:rPr lang="ko-KR" altLang="en-US" dirty="0"/>
              <a:t>되고</a:t>
            </a:r>
            <a:r>
              <a:rPr lang="en-US" altLang="ko-KR" dirty="0"/>
              <a:t>, </a:t>
            </a:r>
            <a:r>
              <a:rPr lang="ko-KR" altLang="en-US" dirty="0"/>
              <a:t>저전력 </a:t>
            </a:r>
            <a:r>
              <a:rPr lang="ko-KR" altLang="en-US" dirty="0" err="1"/>
              <a:t>레귤레이터</a:t>
            </a:r>
            <a:r>
              <a:rPr lang="en-US" altLang="ko-KR" dirty="0"/>
              <a:t>(LPM)</a:t>
            </a:r>
            <a:r>
              <a:rPr lang="ko-KR" altLang="en-US" dirty="0"/>
              <a:t>가 </a:t>
            </a:r>
            <a:r>
              <a:rPr lang="en-US" altLang="ko-KR" dirty="0"/>
              <a:t>Standby </a:t>
            </a:r>
            <a:r>
              <a:rPr lang="ko-KR" altLang="en-US" dirty="0"/>
              <a:t>도메인</a:t>
            </a:r>
            <a:r>
              <a:rPr lang="en-US" altLang="ko-KR" dirty="0"/>
              <a:t>(V11_STANDBY)</a:t>
            </a:r>
            <a:r>
              <a:rPr lang="ko-KR" altLang="en-US" dirty="0"/>
              <a:t>만 공급합니다</a:t>
            </a:r>
            <a:r>
              <a:rPr lang="en-US" altLang="ko-KR" dirty="0"/>
              <a:t>.</a:t>
            </a:r>
          </a:p>
          <a:p>
            <a:pPr lvl="2">
              <a:buFontTx/>
              <a:buChar char="-"/>
            </a:pPr>
            <a:r>
              <a:rPr lang="ko-KR" altLang="en-US" dirty="0"/>
              <a:t>전원 레일 조건 </a:t>
            </a:r>
            <a:r>
              <a:rPr lang="en-US" altLang="ko-KR" dirty="0"/>
              <a:t>: VDD_HV_A </a:t>
            </a:r>
            <a:r>
              <a:rPr lang="ko-KR" altLang="en-US" dirty="0"/>
              <a:t>전원은 </a:t>
            </a:r>
            <a:r>
              <a:rPr lang="en-US" altLang="ko-KR" dirty="0"/>
              <a:t>Run </a:t>
            </a:r>
            <a:r>
              <a:rPr lang="ko-KR" altLang="en-US" dirty="0"/>
              <a:t>및 </a:t>
            </a:r>
            <a:r>
              <a:rPr lang="en-US" altLang="ko-KR" dirty="0"/>
              <a:t>Standby </a:t>
            </a:r>
            <a:r>
              <a:rPr lang="ko-KR" altLang="en-US" dirty="0"/>
              <a:t>모드 동안 항상 </a:t>
            </a:r>
            <a:r>
              <a:rPr lang="en-US" altLang="ko-KR" dirty="0"/>
              <a:t>ON </a:t>
            </a:r>
            <a:r>
              <a:rPr lang="ko-KR" altLang="en-US" dirty="0"/>
              <a:t>상태를 유지해야 합니다</a:t>
            </a:r>
            <a:r>
              <a:rPr lang="en-US" altLang="ko-KR" dirty="0"/>
              <a:t>. (OFF </a:t>
            </a:r>
            <a:r>
              <a:rPr lang="ko-KR" altLang="en-US" dirty="0"/>
              <a:t>시 </a:t>
            </a:r>
            <a:r>
              <a:rPr lang="en-US" altLang="ko-KR" dirty="0"/>
              <a:t>LVR</a:t>
            </a:r>
            <a:r>
              <a:rPr lang="ko-KR" altLang="en-US" dirty="0"/>
              <a:t>발생</a:t>
            </a:r>
            <a:r>
              <a:rPr lang="en-US" altLang="ko-KR" dirty="0"/>
              <a:t>)</a:t>
            </a:r>
          </a:p>
          <a:p>
            <a:pPr marL="342900" lvl="2" indent="0">
              <a:buNone/>
            </a:pPr>
            <a:r>
              <a:rPr lang="en-US" altLang="ko-KR" sz="1100" dirty="0"/>
              <a:t>*LVR : Low Voltage Reset</a:t>
            </a:r>
          </a:p>
          <a:p>
            <a:pPr lvl="1">
              <a:buFontTx/>
              <a:buChar char="-"/>
            </a:pPr>
            <a:r>
              <a:rPr lang="en-US" altLang="ko-KR" dirty="0"/>
              <a:t>Pad Keeping (GPIO </a:t>
            </a:r>
            <a:r>
              <a:rPr lang="ko-KR" altLang="en-US" dirty="0"/>
              <a:t>출력 유지</a:t>
            </a:r>
            <a:r>
              <a:rPr lang="en-US" altLang="ko-KR" dirty="0"/>
              <a:t>)</a:t>
            </a:r>
          </a:p>
          <a:p>
            <a:pPr lvl="2">
              <a:buFontTx/>
              <a:buChar char="-"/>
            </a:pPr>
            <a:r>
              <a:rPr lang="en-US" altLang="ko-KR" dirty="0"/>
              <a:t>Standby </a:t>
            </a:r>
            <a:r>
              <a:rPr lang="ko-KR" altLang="en-US" dirty="0"/>
              <a:t>진입 전 </a:t>
            </a:r>
            <a:r>
              <a:rPr lang="en-US" altLang="ko-KR" dirty="0"/>
              <a:t>DCM </a:t>
            </a:r>
            <a:r>
              <a:rPr lang="ko-KR" altLang="en-US" dirty="0"/>
              <a:t>레지스터 </a:t>
            </a:r>
            <a:r>
              <a:rPr lang="en-US" altLang="ko-KR" dirty="0"/>
              <a:t>DCMRWF1[STANDBY_IO_CONFIG] = 0 </a:t>
            </a:r>
            <a:r>
              <a:rPr lang="ko-KR" altLang="en-US" dirty="0"/>
              <a:t>설정 시</a:t>
            </a:r>
            <a:r>
              <a:rPr lang="en-US" altLang="ko-KR" dirty="0"/>
              <a:t>, Standby </a:t>
            </a:r>
            <a:r>
              <a:rPr lang="ko-KR" altLang="en-US" dirty="0"/>
              <a:t>중에도 선택된 </a:t>
            </a:r>
            <a:r>
              <a:rPr lang="en-US" altLang="ko-KR" dirty="0"/>
              <a:t>I/O </a:t>
            </a:r>
            <a:r>
              <a:rPr lang="ko-KR" altLang="en-US" dirty="0"/>
              <a:t>핀의 출력상태가 유지 됩니다</a:t>
            </a:r>
            <a:r>
              <a:rPr lang="en-US" altLang="ko-KR" dirty="0"/>
              <a:t>.</a:t>
            </a:r>
          </a:p>
          <a:p>
            <a:pPr lvl="2">
              <a:buFontTx/>
              <a:buChar char="-"/>
            </a:pPr>
            <a:r>
              <a:rPr lang="en-US" altLang="ko-KR" dirty="0"/>
              <a:t>Standby -&gt; Run </a:t>
            </a:r>
            <a:r>
              <a:rPr lang="ko-KR" altLang="en-US" dirty="0"/>
              <a:t>복귀 후 </a:t>
            </a:r>
            <a:r>
              <a:rPr lang="en-US" altLang="ko-KR" dirty="0"/>
              <a:t>SW</a:t>
            </a:r>
            <a:r>
              <a:rPr lang="ko-KR" altLang="en-US" dirty="0"/>
              <a:t>가 해당 비트에 </a:t>
            </a:r>
            <a:r>
              <a:rPr lang="en-US" altLang="ko-KR" dirty="0"/>
              <a:t>1 </a:t>
            </a:r>
            <a:r>
              <a:rPr lang="ko-KR" altLang="en-US" dirty="0"/>
              <a:t>을 다시 써주어야 </a:t>
            </a:r>
            <a:r>
              <a:rPr lang="en-US" altLang="ko-KR" dirty="0"/>
              <a:t>SIUL2 </a:t>
            </a:r>
            <a:r>
              <a:rPr lang="ko-KR" altLang="en-US" dirty="0"/>
              <a:t>레지스터의 정상 제어가 재개됩니다</a:t>
            </a:r>
            <a:r>
              <a:rPr lang="en-US" altLang="ko-KR" dirty="0"/>
              <a:t>.</a:t>
            </a:r>
          </a:p>
          <a:p>
            <a:pPr marL="342900" lvl="2" indent="0">
              <a:buNone/>
            </a:pPr>
            <a:r>
              <a:rPr lang="en-US" altLang="ko-KR" sz="1100" dirty="0"/>
              <a:t>*DCM</a:t>
            </a:r>
            <a:r>
              <a:rPr lang="ko-KR" altLang="en-US" sz="1100" dirty="0"/>
              <a:t> </a:t>
            </a: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en-US" altLang="ko-KR" sz="1100" dirty="0"/>
              <a:t>Device</a:t>
            </a:r>
            <a:r>
              <a:rPr lang="ko-KR" altLang="en-US" sz="1100" dirty="0"/>
              <a:t> </a:t>
            </a:r>
            <a:r>
              <a:rPr lang="en-US" altLang="ko-KR" sz="1100" dirty="0"/>
              <a:t>Configuration</a:t>
            </a:r>
            <a:r>
              <a:rPr lang="ko-KR" altLang="en-US" sz="1100" dirty="0"/>
              <a:t> </a:t>
            </a:r>
            <a:r>
              <a:rPr lang="en-US" altLang="ko-KR" sz="1100" dirty="0"/>
              <a:t>Module</a:t>
            </a:r>
          </a:p>
          <a:p>
            <a:pPr marL="342900" lvl="2" indent="0">
              <a:buNone/>
            </a:pPr>
            <a:r>
              <a:rPr lang="en-US" altLang="ko-KR" sz="1100" dirty="0"/>
              <a:t>*SIUL2 : System Integration Unit Lite 2 (GPIO </a:t>
            </a:r>
            <a:r>
              <a:rPr lang="ko-KR" altLang="en-US" sz="1100" dirty="0"/>
              <a:t>관련 설정 모듈</a:t>
            </a:r>
            <a:r>
              <a:rPr lang="en-US" altLang="ko-KR" sz="1100" dirty="0"/>
              <a:t>)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32D91A-0915-80FE-B03E-903CEB44472D}"/>
              </a:ext>
            </a:extLst>
          </p:cNvPr>
          <p:cNvSpPr/>
          <p:nvPr/>
        </p:nvSpPr>
        <p:spPr bwMode="auto">
          <a:xfrm>
            <a:off x="3187340" y="4841967"/>
            <a:ext cx="209005" cy="112340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49F847-AFA9-6C60-FAD5-98AE7D2927FE}"/>
              </a:ext>
            </a:extLst>
          </p:cNvPr>
          <p:cNvSpPr/>
          <p:nvPr/>
        </p:nvSpPr>
        <p:spPr bwMode="auto">
          <a:xfrm>
            <a:off x="6657702" y="4841966"/>
            <a:ext cx="396240" cy="11408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DD179A-FF7F-0B64-7C84-0FB1BE67B33E}"/>
              </a:ext>
            </a:extLst>
          </p:cNvPr>
          <p:cNvSpPr/>
          <p:nvPr/>
        </p:nvSpPr>
        <p:spPr bwMode="auto">
          <a:xfrm>
            <a:off x="3283132" y="4171723"/>
            <a:ext cx="209005" cy="2220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F7AD3A-631E-8ABB-8A6C-2377B431E460}"/>
              </a:ext>
            </a:extLst>
          </p:cNvPr>
          <p:cNvSpPr/>
          <p:nvPr/>
        </p:nvSpPr>
        <p:spPr bwMode="auto">
          <a:xfrm>
            <a:off x="6701246" y="4171896"/>
            <a:ext cx="209005" cy="2220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FEEE85-082A-E1B9-4F7F-336B4FB79D4B}"/>
              </a:ext>
            </a:extLst>
          </p:cNvPr>
          <p:cNvSpPr/>
          <p:nvPr/>
        </p:nvSpPr>
        <p:spPr bwMode="auto">
          <a:xfrm>
            <a:off x="435428" y="4154478"/>
            <a:ext cx="6879772" cy="2638989"/>
          </a:xfrm>
          <a:prstGeom prst="rect">
            <a:avLst/>
          </a:prstGeom>
          <a:noFill/>
          <a:ln w="28575" cap="flat" cmpd="sng" algn="ctr">
            <a:solidFill>
              <a:srgbClr val="E852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59965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A0F-5CC1-4E37-A5A6-0E87B65F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7D1970-82ED-13BD-C442-E897BB9C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738664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Symbol"/>
              <a:buChar char="·"/>
            </a:pPr>
            <a:r>
              <a:rPr lang="en-US" altLang="ko-KR" b="1" dirty="0"/>
              <a:t>2. CPU,</a:t>
            </a:r>
            <a:r>
              <a:rPr lang="ko-KR" altLang="en-US" b="1" dirty="0"/>
              <a:t>클럭</a:t>
            </a:r>
            <a:r>
              <a:rPr lang="en-US" altLang="ko-KR" b="1" dirty="0"/>
              <a:t>,</a:t>
            </a:r>
            <a:r>
              <a:rPr lang="ko-KR" altLang="en-US" b="1" dirty="0"/>
              <a:t>전원</a:t>
            </a:r>
            <a:r>
              <a:rPr lang="en-US" altLang="ko-KR" b="1" dirty="0"/>
              <a:t>,</a:t>
            </a:r>
            <a:r>
              <a:rPr lang="ko-KR" altLang="en-US" b="1" dirty="0"/>
              <a:t>메모리 관점의 동작 원리</a:t>
            </a:r>
            <a:br>
              <a:rPr lang="en-US" altLang="ko-KR" b="1" dirty="0"/>
            </a:b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1F346F14-4B0C-0AE8-4A6C-25377DEFF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246"/>
            <a:ext cx="9601200" cy="3181360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d. </a:t>
            </a:r>
            <a:r>
              <a:rPr lang="ko-KR" altLang="ko-KR" b="1" dirty="0"/>
              <a:t>메모리 관점 (SRAM </a:t>
            </a:r>
            <a:r>
              <a:rPr lang="ko-KR" altLang="ko-KR" b="1" dirty="0" err="1"/>
              <a:t>retention</a:t>
            </a:r>
            <a:r>
              <a:rPr lang="ko-KR" altLang="ko-KR" b="1" dirty="0"/>
              <a:t> 및 </a:t>
            </a:r>
            <a:r>
              <a:rPr lang="ko-KR" altLang="ko-KR" b="1" dirty="0" err="1"/>
              <a:t>Flash</a:t>
            </a:r>
            <a:r>
              <a:rPr lang="ko-KR" altLang="ko-KR" b="1" dirty="0"/>
              <a:t>)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dirty="0"/>
              <a:t>Run / VLSR : Flash </a:t>
            </a:r>
            <a:r>
              <a:rPr lang="ko-KR" altLang="en-US" dirty="0"/>
              <a:t>메모리 및 모든 내부 </a:t>
            </a:r>
            <a:r>
              <a:rPr lang="en-US" altLang="ko-KR" dirty="0"/>
              <a:t>SRAM</a:t>
            </a:r>
            <a:r>
              <a:rPr lang="ko-KR" altLang="en-US" dirty="0"/>
              <a:t>이 완전 활성화 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Standby : Run </a:t>
            </a:r>
            <a:r>
              <a:rPr lang="ko-KR" altLang="en-US" dirty="0"/>
              <a:t>도메인이 꺼지므로 일반 </a:t>
            </a:r>
            <a:r>
              <a:rPr lang="en-US" altLang="ko-KR" dirty="0"/>
              <a:t>SRAM </a:t>
            </a:r>
            <a:r>
              <a:rPr lang="ko-KR" altLang="en-US" dirty="0"/>
              <a:t>내 데이터는 유실되며</a:t>
            </a:r>
            <a:r>
              <a:rPr lang="en-US" altLang="ko-KR" dirty="0"/>
              <a:t>, Standby </a:t>
            </a:r>
            <a:r>
              <a:rPr lang="ko-KR" altLang="en-US" dirty="0"/>
              <a:t>도메인에 위치한 </a:t>
            </a:r>
            <a:r>
              <a:rPr lang="en-US" altLang="ko-KR" dirty="0"/>
              <a:t>32K Standby RAM </a:t>
            </a:r>
            <a:r>
              <a:rPr lang="ko-KR" altLang="en-US" dirty="0"/>
              <a:t>데이터만 상태가 유지 됩니다</a:t>
            </a:r>
            <a:r>
              <a:rPr lang="en-US" altLang="ko-KR" dirty="0"/>
              <a:t>.</a:t>
            </a:r>
          </a:p>
          <a:p>
            <a:pPr marL="342900" lvl="2" indent="0">
              <a:buNone/>
            </a:pPr>
            <a:br>
              <a:rPr lang="en-US" altLang="ko-KR" dirty="0"/>
            </a:b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EA660C-E97B-89CC-977C-5CA7FB8A4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669" y="2239531"/>
            <a:ext cx="6200502" cy="400484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676B03F-7F82-4DD7-B8B2-6D0749BD598A}"/>
              </a:ext>
            </a:extLst>
          </p:cNvPr>
          <p:cNvSpPr/>
          <p:nvPr/>
        </p:nvSpPr>
        <p:spPr bwMode="auto">
          <a:xfrm>
            <a:off x="4850675" y="3203222"/>
            <a:ext cx="966652" cy="96818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0589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92E8-1E9E-839E-475F-ECF32F29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0FB41DB-587E-C6A5-3548-9A9BBC24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모드 간 전환</a:t>
            </a:r>
            <a:r>
              <a:rPr lang="en-US" altLang="ko-KR" b="1" dirty="0"/>
              <a:t>, </a:t>
            </a:r>
            <a:r>
              <a:rPr lang="ko-KR" altLang="en-US" b="1" dirty="0"/>
              <a:t>진입 조건 및 </a:t>
            </a:r>
            <a:r>
              <a:rPr lang="en-US" altLang="ko-KR" b="1" dirty="0"/>
              <a:t>Wake-Up </a:t>
            </a:r>
            <a:r>
              <a:rPr lang="ko-KR" altLang="en-US" b="1" dirty="0"/>
              <a:t>후 실행 흐름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FE29C824-5E79-2C0E-5D15-6327EEAEB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246"/>
            <a:ext cx="9601200" cy="3181360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모드 상태 변이 흐름 </a:t>
            </a:r>
            <a:r>
              <a:rPr lang="en-US" altLang="ko-KR" b="1" dirty="0"/>
              <a:t>(State Transition)</a:t>
            </a:r>
          </a:p>
          <a:p>
            <a:pPr lvl="1">
              <a:buFontTx/>
              <a:buChar char="-"/>
            </a:pPr>
            <a:r>
              <a:rPr lang="ko-KR" altLang="en-US" dirty="0"/>
              <a:t>리셋</a:t>
            </a:r>
            <a:r>
              <a:rPr lang="en-US" altLang="ko-KR" dirty="0"/>
              <a:t>(Any Reset)</a:t>
            </a:r>
            <a:r>
              <a:rPr lang="ko-KR" altLang="en-US" dirty="0"/>
              <a:t>이 발생하면 </a:t>
            </a:r>
            <a:r>
              <a:rPr lang="en-US" altLang="ko-KR" dirty="0"/>
              <a:t>MCU</a:t>
            </a:r>
            <a:r>
              <a:rPr lang="ko-KR" altLang="en-US" dirty="0"/>
              <a:t>는 예외 없이 </a:t>
            </a:r>
            <a:r>
              <a:rPr lang="en-US" altLang="ko-KR" dirty="0"/>
              <a:t>Run </a:t>
            </a:r>
            <a:r>
              <a:rPr lang="ko-KR" altLang="en-US" dirty="0"/>
              <a:t>모드로 복귀합니다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FF043D-F0B1-C38B-D450-211BB9C9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761" y="1908671"/>
            <a:ext cx="3839302" cy="2793378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07698D3-8F0F-C028-3801-6EBCA6A49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62950"/>
              </p:ext>
            </p:extLst>
          </p:nvPr>
        </p:nvGraphicFramePr>
        <p:xfrm>
          <a:off x="1934479" y="5244427"/>
          <a:ext cx="603386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932">
                  <a:extLst>
                    <a:ext uri="{9D8B030D-6E8A-4147-A177-3AD203B41FA5}">
                      <a16:colId xmlns:a16="http://schemas.microsoft.com/office/drawing/2014/main" val="3028852030"/>
                    </a:ext>
                  </a:extLst>
                </a:gridCol>
                <a:gridCol w="3016932">
                  <a:extLst>
                    <a:ext uri="{9D8B030D-6E8A-4147-A177-3AD203B41FA5}">
                      <a16:colId xmlns:a16="http://schemas.microsoft.com/office/drawing/2014/main" val="1119448458"/>
                    </a:ext>
                  </a:extLst>
                </a:gridCol>
              </a:tblGrid>
              <a:tr h="220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Run &lt;-&gt; VLSR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RUN / VLSR -&gt; Standby (2,3)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466545"/>
                  </a:ext>
                </a:extLst>
              </a:tr>
              <a:tr h="308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CLOCK SWITCHING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PLL &lt;-&gt; FIRC(3MHz,FIRC_DIV=16)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SW Entry Sequence </a:t>
                      </a:r>
                      <a:r>
                        <a:rPr lang="ko-KR" altLang="en-US" sz="1400" dirty="0"/>
                        <a:t>후 </a:t>
                      </a:r>
                      <a:r>
                        <a:rPr lang="en-US" altLang="ko-KR" sz="1400" dirty="0"/>
                        <a:t>WFI </a:t>
                      </a:r>
                      <a:r>
                        <a:rPr lang="ko-KR" altLang="en-US" sz="1400" dirty="0"/>
                        <a:t>명령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794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36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58CC-6999-8D3C-8387-D324DBCC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6A0E792-FB8E-7465-ACB0-23E6A782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모드 간 전환</a:t>
            </a:r>
            <a:r>
              <a:rPr lang="en-US" altLang="ko-KR" b="1" dirty="0"/>
              <a:t>, </a:t>
            </a:r>
            <a:r>
              <a:rPr lang="ko-KR" altLang="en-US" b="1" dirty="0"/>
              <a:t>진입 조건 및 </a:t>
            </a:r>
            <a:r>
              <a:rPr lang="en-US" altLang="ko-KR" b="1" dirty="0"/>
              <a:t>Wake-Up </a:t>
            </a:r>
            <a:r>
              <a:rPr lang="ko-KR" altLang="en-US" b="1" dirty="0"/>
              <a:t>후 실행 흐름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4C984BB1-DBB8-8906-3175-C2EEA710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82023"/>
            <a:ext cx="9601200" cy="1413520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b. </a:t>
            </a:r>
            <a:r>
              <a:rPr lang="ko-KR" altLang="ko-KR" b="1" dirty="0" err="1"/>
              <a:t>Standby</a:t>
            </a:r>
            <a:r>
              <a:rPr lang="ko-KR" altLang="ko-KR" b="1" dirty="0"/>
              <a:t> 진입 선행 조건 (</a:t>
            </a:r>
            <a:r>
              <a:rPr lang="ko-KR" altLang="ko-KR" b="1" dirty="0" err="1"/>
              <a:t>Software</a:t>
            </a:r>
            <a:r>
              <a:rPr lang="ko-KR" altLang="ko-KR" b="1" dirty="0"/>
              <a:t> </a:t>
            </a:r>
            <a:r>
              <a:rPr lang="ko-KR" altLang="ko-KR" b="1" dirty="0" err="1"/>
              <a:t>Entry</a:t>
            </a:r>
            <a:r>
              <a:rPr lang="ko-KR" altLang="ko-KR" b="1" dirty="0"/>
              <a:t> </a:t>
            </a:r>
            <a:r>
              <a:rPr lang="ko-KR" altLang="ko-KR" b="1" dirty="0" err="1"/>
              <a:t>Checklist</a:t>
            </a:r>
            <a:r>
              <a:rPr lang="ko-KR" altLang="ko-KR" b="1" dirty="0"/>
              <a:t>)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ko-KR" dirty="0"/>
              <a:t>WISR 플래그 클리어: WISR 및 WISR_64 (</a:t>
            </a:r>
            <a:r>
              <a:rPr lang="ko-KR" altLang="ko-KR" dirty="0" err="1"/>
              <a:t>Wakeup</a:t>
            </a:r>
            <a:r>
              <a:rPr lang="ko-KR" altLang="ko-KR" dirty="0"/>
              <a:t> </a:t>
            </a:r>
            <a:r>
              <a:rPr lang="ko-KR" altLang="ko-KR" dirty="0" err="1"/>
              <a:t>Interrupt</a:t>
            </a:r>
            <a:r>
              <a:rPr lang="ko-KR" altLang="ko-KR" dirty="0"/>
              <a:t> </a:t>
            </a:r>
            <a:r>
              <a:rPr lang="ko-KR" altLang="ko-KR" dirty="0" err="1"/>
              <a:t>Status</a:t>
            </a:r>
            <a:r>
              <a:rPr lang="ko-KR" altLang="ko-KR" dirty="0"/>
              <a:t> </a:t>
            </a:r>
            <a:r>
              <a:rPr lang="ko-KR" altLang="ko-KR" dirty="0" err="1"/>
              <a:t>Register</a:t>
            </a:r>
            <a:r>
              <a:rPr lang="ko-KR" altLang="ko-KR" dirty="0"/>
              <a:t>) 플래그가 모두 0이어야 합니다. 잔여 플래그가 존재하면 진입 즉시 </a:t>
            </a:r>
            <a:r>
              <a:rPr lang="ko-KR" altLang="ko-KR" dirty="0" err="1"/>
              <a:t>Wakeup됩니다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ko-KR" altLang="ko-KR" dirty="0"/>
              <a:t>PLL </a:t>
            </a:r>
            <a:r>
              <a:rPr lang="ko-KR" altLang="ko-KR" dirty="0" err="1"/>
              <a:t>Off</a:t>
            </a:r>
            <a:r>
              <a:rPr lang="ko-KR" altLang="ko-KR" dirty="0"/>
              <a:t> &amp; FIRC 설정: </a:t>
            </a:r>
            <a:r>
              <a:rPr lang="ko-KR" altLang="ko-KR" dirty="0" err="1"/>
              <a:t>PLL을</a:t>
            </a:r>
            <a:r>
              <a:rPr lang="ko-KR" altLang="ko-KR" dirty="0"/>
              <a:t> 끄고 </a:t>
            </a:r>
            <a:r>
              <a:rPr lang="ko-KR" altLang="ko-KR" dirty="0" err="1"/>
              <a:t>클록을</a:t>
            </a:r>
            <a:r>
              <a:rPr lang="ko-KR" altLang="ko-KR" dirty="0"/>
              <a:t> </a:t>
            </a:r>
            <a:r>
              <a:rPr lang="ko-KR" altLang="ko-KR" dirty="0" err="1"/>
              <a:t>FIRC로</a:t>
            </a:r>
            <a:r>
              <a:rPr lang="ko-KR" altLang="ko-KR" dirty="0"/>
              <a:t> 변경하되, FIRC 속도는 24MHz 또는 48MHz로 유효해야 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ko-KR" altLang="ko-KR" dirty="0" err="1"/>
              <a:t>Pad</a:t>
            </a:r>
            <a:r>
              <a:rPr lang="ko-KR" altLang="ko-KR" dirty="0"/>
              <a:t> </a:t>
            </a:r>
            <a:r>
              <a:rPr lang="ko-KR" altLang="ko-KR" dirty="0" err="1"/>
              <a:t>Keeping</a:t>
            </a:r>
            <a:r>
              <a:rPr lang="ko-KR" altLang="ko-KR" dirty="0"/>
              <a:t> 설정: </a:t>
            </a:r>
            <a:r>
              <a:rPr lang="ko-KR" altLang="ko-KR" dirty="0" err="1"/>
              <a:t>Standby</a:t>
            </a:r>
            <a:r>
              <a:rPr lang="ko-KR" altLang="ko-KR" dirty="0"/>
              <a:t> 중 </a:t>
            </a:r>
            <a:r>
              <a:rPr lang="ko-KR" altLang="ko-KR" dirty="0" err="1"/>
              <a:t>I</a:t>
            </a:r>
            <a:r>
              <a:rPr lang="ko-KR" altLang="ko-KR" dirty="0"/>
              <a:t>/</a:t>
            </a:r>
            <a:r>
              <a:rPr lang="ko-KR" altLang="ko-KR" dirty="0" err="1"/>
              <a:t>O</a:t>
            </a:r>
            <a:r>
              <a:rPr lang="ko-KR" altLang="ko-KR" dirty="0"/>
              <a:t> 고정이 필요하면 DCMRWF1[STANDBY_IO_CONFIG] = 0 작성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7BEEC9-93AB-08E5-357F-981E09D1D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382" y="4239454"/>
            <a:ext cx="7424060" cy="12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4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4661-B390-51DC-4114-9EDC829D0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6814F4F-8872-BA08-D664-023A9FC5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모드 간 전환</a:t>
            </a:r>
            <a:r>
              <a:rPr lang="en-US" altLang="ko-KR" b="1" dirty="0"/>
              <a:t>, </a:t>
            </a:r>
            <a:r>
              <a:rPr lang="ko-KR" altLang="en-US" b="1" dirty="0"/>
              <a:t>진입 조건 및 </a:t>
            </a:r>
            <a:r>
              <a:rPr lang="en-US" altLang="ko-KR" b="1" dirty="0"/>
              <a:t>Wake-Up </a:t>
            </a:r>
            <a:r>
              <a:rPr lang="ko-KR" altLang="en-US" b="1" dirty="0"/>
              <a:t>후 실행 흐름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6FDF33A2-FC70-B240-9ED5-C04B887E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25" y="824582"/>
            <a:ext cx="4675324" cy="5341199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Wake-up </a:t>
            </a:r>
            <a:r>
              <a:rPr lang="ko-KR" altLang="en-US" b="1" dirty="0"/>
              <a:t>시퀀스 및 실행 흐름 </a:t>
            </a:r>
            <a:r>
              <a:rPr lang="en-US" altLang="ko-KR" b="1" dirty="0"/>
              <a:t>(Normal vs Fast Exit)</a:t>
            </a:r>
          </a:p>
          <a:p>
            <a:pPr lvl="1">
              <a:buFontTx/>
              <a:buChar char="-"/>
            </a:pPr>
            <a:r>
              <a:rPr lang="ko-KR" altLang="ko-KR" dirty="0" err="1"/>
              <a:t>Wakeup</a:t>
            </a:r>
            <a:r>
              <a:rPr lang="ko-KR" altLang="ko-KR" dirty="0"/>
              <a:t> 이벤트 수신 </a:t>
            </a:r>
            <a:r>
              <a:rPr lang="en-US" altLang="ko-KR" dirty="0"/>
              <a:t>-&gt; </a:t>
            </a:r>
            <a:br>
              <a:rPr lang="en-US" altLang="ko-KR" dirty="0"/>
            </a:br>
            <a:r>
              <a:rPr lang="ko-KR" altLang="ko-KR" dirty="0"/>
              <a:t>FIRC </a:t>
            </a:r>
            <a:r>
              <a:rPr lang="en-US" altLang="ko-KR" dirty="0"/>
              <a:t>Power-up</a:t>
            </a:r>
            <a:r>
              <a:rPr lang="ko-KR" altLang="ko-KR" dirty="0"/>
              <a:t> </a:t>
            </a:r>
            <a:r>
              <a:rPr lang="en-US" altLang="ko-KR" dirty="0"/>
              <a:t>-&gt; </a:t>
            </a:r>
            <a:br>
              <a:rPr lang="en-US" altLang="ko-KR" dirty="0"/>
            </a:br>
            <a:r>
              <a:rPr lang="ko-KR" altLang="ko-KR" dirty="0" err="1"/>
              <a:t>PMC가</a:t>
            </a:r>
            <a:r>
              <a:rPr lang="ko-KR" altLang="ko-KR" dirty="0"/>
              <a:t> V11_RUN 전원 공급 </a:t>
            </a:r>
            <a:r>
              <a:rPr lang="en-US" altLang="ko-KR" dirty="0"/>
              <a:t>-&gt; </a:t>
            </a:r>
            <a:br>
              <a:rPr lang="en-US" altLang="ko-KR" dirty="0"/>
            </a:br>
            <a:r>
              <a:rPr lang="ko-KR" altLang="ko-KR" dirty="0" err="1"/>
              <a:t>MC_PCU가</a:t>
            </a:r>
            <a:r>
              <a:rPr lang="ko-KR" altLang="ko-KR" dirty="0"/>
              <a:t> </a:t>
            </a:r>
            <a:r>
              <a:rPr lang="ko-KR" altLang="ko-KR" dirty="0" err="1"/>
              <a:t>Isolation</a:t>
            </a:r>
            <a:r>
              <a:rPr lang="ko-KR" altLang="ko-KR" dirty="0"/>
              <a:t> 제거 </a:t>
            </a:r>
            <a:r>
              <a:rPr lang="en-US" altLang="ko-KR" dirty="0"/>
              <a:t>-&gt; </a:t>
            </a:r>
            <a:br>
              <a:rPr lang="en-US" altLang="ko-KR" dirty="0"/>
            </a:br>
            <a:r>
              <a:rPr lang="ko-KR" altLang="ko-KR" dirty="0" err="1"/>
              <a:t>Run</a:t>
            </a:r>
            <a:r>
              <a:rPr lang="ko-KR" altLang="ko-KR" dirty="0"/>
              <a:t> 도메인 리셋 해제 순으로 하드웨어가 복귀합니다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Normal Standby Exit </a:t>
            </a:r>
            <a:br>
              <a:rPr lang="en-US" altLang="ko-KR" dirty="0"/>
            </a:br>
            <a:r>
              <a:rPr lang="en-US" altLang="ko-KR" dirty="0"/>
              <a:t>Secure BAF </a:t>
            </a:r>
            <a:r>
              <a:rPr lang="ko-KR" altLang="en-US" dirty="0"/>
              <a:t>부트 로직을 거쳐 일반 </a:t>
            </a:r>
            <a:r>
              <a:rPr lang="en-US" altLang="ko-KR" dirty="0" err="1"/>
              <a:t>Reset_Handler</a:t>
            </a:r>
            <a:r>
              <a:rPr lang="en-US" altLang="ko-KR" dirty="0"/>
              <a:t> </a:t>
            </a:r>
            <a:r>
              <a:rPr lang="ko-KR" altLang="en-US" dirty="0"/>
              <a:t>진입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Fast Standby Exit </a:t>
            </a:r>
            <a:br>
              <a:rPr lang="en-US" altLang="ko-KR" dirty="0"/>
            </a:br>
            <a:r>
              <a:rPr lang="en-US" altLang="ko-KR" dirty="0"/>
              <a:t>SIRC/FIRC/PMC </a:t>
            </a:r>
            <a:r>
              <a:rPr lang="ko-KR" altLang="en-US" dirty="0"/>
              <a:t>트림 및 </a:t>
            </a:r>
            <a:r>
              <a:rPr lang="en-US" altLang="ko-KR" dirty="0"/>
              <a:t>DCM </a:t>
            </a:r>
            <a:r>
              <a:rPr lang="ko-KR" altLang="en-US" dirty="0"/>
              <a:t>스캔 단계를 </a:t>
            </a:r>
            <a:r>
              <a:rPr lang="en-US" altLang="ko-KR" dirty="0"/>
              <a:t>Bypass </a:t>
            </a:r>
            <a:r>
              <a:rPr lang="ko-KR" altLang="en-US" dirty="0"/>
              <a:t>합니다</a:t>
            </a:r>
            <a:endParaRPr lang="en-US" altLang="ko-KR" dirty="0"/>
          </a:p>
          <a:p>
            <a:pPr lvl="1">
              <a:buFontTx/>
              <a:buChar char="-"/>
            </a:pP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Normal vs Fast Exit</a:t>
            </a:r>
          </a:p>
          <a:p>
            <a:pPr lvl="2">
              <a:buFontTx/>
              <a:buChar char="-"/>
            </a:pPr>
            <a:r>
              <a:rPr lang="en-US" altLang="ko-KR" dirty="0"/>
              <a:t>Fast Exit </a:t>
            </a:r>
            <a:r>
              <a:rPr lang="ko-KR" altLang="en-US" dirty="0"/>
              <a:t>사용 시</a:t>
            </a:r>
            <a:r>
              <a:rPr lang="en-US" altLang="ko-KR" dirty="0"/>
              <a:t>, Fast Reset Address </a:t>
            </a:r>
            <a:r>
              <a:rPr lang="ko-KR" altLang="en-US" dirty="0"/>
              <a:t>로 진입하여 원하는 동작을 빠르게 수행 할 수 있는 이점이 있으나</a:t>
            </a:r>
            <a:r>
              <a:rPr lang="en-US" altLang="ko-KR" dirty="0"/>
              <a:t>, Clock Trimming , DCM Scan </a:t>
            </a:r>
            <a:r>
              <a:rPr lang="ko-KR" altLang="en-US" dirty="0"/>
              <a:t>단계를 </a:t>
            </a:r>
            <a:r>
              <a:rPr lang="en-US" altLang="ko-KR" dirty="0"/>
              <a:t>Bypass </a:t>
            </a:r>
            <a:r>
              <a:rPr lang="ko-KR" altLang="en-US" dirty="0"/>
              <a:t>하는 관계로 안정성 문제가 발생 할 수 있어</a:t>
            </a:r>
            <a:r>
              <a:rPr lang="en-US" altLang="ko-KR" dirty="0"/>
              <a:t>, </a:t>
            </a:r>
            <a:r>
              <a:rPr lang="ko-KR" altLang="en-US" b="1" dirty="0"/>
              <a:t>고 신뢰성이 필요한 기능에는 적합하지 않을 수 있습니다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D36CE1-0AF5-F389-C449-0571BA314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9" y="824583"/>
            <a:ext cx="4468831" cy="53411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5B19338-5B51-CC58-A430-98DAA1484712}"/>
              </a:ext>
            </a:extLst>
          </p:cNvPr>
          <p:cNvSpPr/>
          <p:nvPr/>
        </p:nvSpPr>
        <p:spPr bwMode="auto">
          <a:xfrm>
            <a:off x="4952999" y="3210847"/>
            <a:ext cx="1745684" cy="186489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D03CD2-E6BD-32D6-DAC9-183CD21A6FEB}"/>
              </a:ext>
            </a:extLst>
          </p:cNvPr>
          <p:cNvSpPr/>
          <p:nvPr/>
        </p:nvSpPr>
        <p:spPr bwMode="auto">
          <a:xfrm>
            <a:off x="7102640" y="2562734"/>
            <a:ext cx="2319189" cy="143016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0538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13B4-5740-D7B2-1A2B-98135CA21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032534A-0A0F-3371-FE89-D4D071E8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3. </a:t>
            </a:r>
            <a:r>
              <a:rPr lang="ko-KR" altLang="en-US" b="1" dirty="0"/>
              <a:t>모드 간 전환</a:t>
            </a:r>
            <a:r>
              <a:rPr lang="en-US" altLang="ko-KR" b="1" dirty="0"/>
              <a:t>, </a:t>
            </a:r>
            <a:r>
              <a:rPr lang="ko-KR" altLang="en-US" b="1" dirty="0"/>
              <a:t>진입 조건 및 </a:t>
            </a:r>
            <a:r>
              <a:rPr lang="en-US" altLang="ko-KR" b="1" dirty="0"/>
              <a:t>Wake-Up </a:t>
            </a:r>
            <a:r>
              <a:rPr lang="ko-KR" altLang="en-US" b="1" dirty="0"/>
              <a:t>후 실행 흐름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F6C22C65-DB52-51DB-9D1E-28A6739A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82023"/>
            <a:ext cx="9601200" cy="1525748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d. Wake-up </a:t>
            </a:r>
            <a:r>
              <a:rPr lang="ko-KR" altLang="en-US" b="1" dirty="0"/>
              <a:t>시간 측정값 및 측정 조건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dirty="0"/>
              <a:t>공통 측정 조건 </a:t>
            </a:r>
            <a:r>
              <a:rPr lang="en-US" altLang="ko-KR" dirty="0"/>
              <a:t>: SIRC, PMC, FIRC </a:t>
            </a:r>
            <a:r>
              <a:rPr lang="ko-KR" altLang="en-US" dirty="0"/>
              <a:t>트림 및 </a:t>
            </a:r>
            <a:r>
              <a:rPr lang="en-US" altLang="ko-KR" dirty="0"/>
              <a:t>DCM </a:t>
            </a:r>
            <a:r>
              <a:rPr lang="ko-KR" altLang="en-US" dirty="0"/>
              <a:t>스캔 활성화</a:t>
            </a:r>
            <a:r>
              <a:rPr lang="en-US" altLang="ko-KR" dirty="0"/>
              <a:t>, PMC </a:t>
            </a:r>
            <a:r>
              <a:rPr lang="ko-KR" altLang="en-US" dirty="0" err="1"/>
              <a:t>캐패시터</a:t>
            </a:r>
            <a:r>
              <a:rPr lang="ko-KR" altLang="en-US" dirty="0"/>
              <a:t> </a:t>
            </a:r>
            <a:r>
              <a:rPr lang="ko-KR" altLang="en-US" dirty="0" err="1"/>
              <a:t>패스트</a:t>
            </a:r>
            <a:r>
              <a:rPr lang="ko-KR" altLang="en-US" dirty="0"/>
              <a:t> 차지 활성화 조건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Normal Wakeup </a:t>
            </a:r>
            <a:r>
              <a:rPr lang="ko-KR" altLang="en-US" dirty="0"/>
              <a:t>시간 </a:t>
            </a:r>
            <a:r>
              <a:rPr lang="en-US" altLang="ko-KR" dirty="0"/>
              <a:t>: Wakeup </a:t>
            </a:r>
            <a:r>
              <a:rPr lang="ko-KR" altLang="en-US" dirty="0"/>
              <a:t>이벤트 발생부터 </a:t>
            </a:r>
            <a:r>
              <a:rPr lang="en-US" altLang="ko-KR" dirty="0" err="1"/>
              <a:t>Reset_Handler</a:t>
            </a:r>
            <a:r>
              <a:rPr lang="en-US" altLang="ko-KR" dirty="0"/>
              <a:t> </a:t>
            </a:r>
            <a:r>
              <a:rPr lang="ko-KR" altLang="en-US" dirty="0"/>
              <a:t>실행 및 </a:t>
            </a:r>
            <a:r>
              <a:rPr lang="en-US" altLang="ko-KR" dirty="0"/>
              <a:t>GPIO High </a:t>
            </a:r>
            <a:r>
              <a:rPr lang="ko-KR" altLang="en-US" dirty="0"/>
              <a:t>출력까지 약 </a:t>
            </a:r>
            <a:r>
              <a:rPr lang="en-US" altLang="ko-KR" dirty="0"/>
              <a:t>2.872ms</a:t>
            </a:r>
          </a:p>
          <a:p>
            <a:pPr lvl="1">
              <a:buFontTx/>
              <a:buChar char="-"/>
            </a:pPr>
            <a:r>
              <a:rPr lang="en-US" altLang="ko-KR" dirty="0"/>
              <a:t>Fast Wakeup </a:t>
            </a:r>
            <a:r>
              <a:rPr lang="ko-KR" altLang="en-US" dirty="0"/>
              <a:t>시간 </a:t>
            </a:r>
            <a:r>
              <a:rPr lang="en-US" altLang="ko-KR" dirty="0"/>
              <a:t>: Wakeup </a:t>
            </a:r>
            <a:r>
              <a:rPr lang="ko-KR" altLang="en-US" dirty="0"/>
              <a:t>이벤트 발생부터 </a:t>
            </a:r>
            <a:r>
              <a:rPr lang="en-US" altLang="ko-KR" dirty="0" err="1"/>
              <a:t>FastWkupBootAddress</a:t>
            </a:r>
            <a:r>
              <a:rPr lang="en-US" altLang="ko-KR" dirty="0"/>
              <a:t> </a:t>
            </a:r>
            <a:r>
              <a:rPr lang="ko-KR" altLang="en-US" dirty="0"/>
              <a:t>진입까지 약 </a:t>
            </a:r>
            <a:r>
              <a:rPr lang="en-US" altLang="ko-KR" dirty="0"/>
              <a:t>872us (</a:t>
            </a:r>
            <a:r>
              <a:rPr lang="en-US" altLang="ko-KR" dirty="0" err="1"/>
              <a:t>Reset_Handler</a:t>
            </a:r>
            <a:r>
              <a:rPr lang="en-US" altLang="ko-KR" dirty="0"/>
              <a:t> </a:t>
            </a:r>
            <a:r>
              <a:rPr lang="ko-KR" altLang="en-US" dirty="0"/>
              <a:t>완료까지 약 </a:t>
            </a:r>
            <a:r>
              <a:rPr lang="en-US" altLang="ko-KR" dirty="0"/>
              <a:t>2.08ms)</a:t>
            </a:r>
          </a:p>
          <a:p>
            <a:pPr marL="171450" lvl="1" indent="0">
              <a:buNone/>
            </a:pPr>
            <a:r>
              <a:rPr lang="en-US" altLang="ko-KR" dirty="0"/>
              <a:t>* Application </a:t>
            </a:r>
            <a:r>
              <a:rPr lang="ko-KR" altLang="en-US" dirty="0"/>
              <a:t>문서의 예시 측정값이며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/>
              <a:t>App</a:t>
            </a:r>
            <a:r>
              <a:rPr lang="ko-KR" altLang="en-US" dirty="0"/>
              <a:t>에서의 보장되는 값이 아닙니다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BBE687-F474-C316-7467-BCE0874462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22"/>
          <a:stretch>
            <a:fillRect/>
          </a:stretch>
        </p:blipFill>
        <p:spPr>
          <a:xfrm>
            <a:off x="2111829" y="2374873"/>
            <a:ext cx="5560422" cy="21082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14D81E-7067-48B1-B3C5-83F0EA7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29" y="4762476"/>
            <a:ext cx="5560422" cy="197096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6FDF6A-E69C-4BD1-A135-C5FDC8892BEA}"/>
              </a:ext>
            </a:extLst>
          </p:cNvPr>
          <p:cNvSpPr/>
          <p:nvPr/>
        </p:nvSpPr>
        <p:spPr bwMode="auto">
          <a:xfrm>
            <a:off x="4243250" y="2374874"/>
            <a:ext cx="668383" cy="17301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0F3AB3-4EEB-1F32-B0D6-57C89DA8EBB9}"/>
              </a:ext>
            </a:extLst>
          </p:cNvPr>
          <p:cNvSpPr/>
          <p:nvPr/>
        </p:nvSpPr>
        <p:spPr bwMode="auto">
          <a:xfrm>
            <a:off x="4323805" y="4762476"/>
            <a:ext cx="755469" cy="17863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16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1D6A-CEF6-6A09-878E-2A8B87D1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AC8927B-DCF6-B3C1-8A04-9B742CD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모드별 비교 및 </a:t>
            </a:r>
            <a:r>
              <a:rPr lang="en-US" altLang="ko-KR" b="1" dirty="0"/>
              <a:t>Application </a:t>
            </a:r>
            <a:r>
              <a:rPr lang="ko-KR" altLang="en-US" b="1" dirty="0"/>
              <a:t>선택 기준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5093D35-F9C7-62F2-5592-9B3138D7C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3674"/>
            <a:ext cx="9601200" cy="463303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a. </a:t>
            </a:r>
            <a:r>
              <a:rPr lang="ko-KR" altLang="en-US" b="1" dirty="0"/>
              <a:t>모드별 핵심 특성 비교표</a:t>
            </a:r>
            <a:endParaRPr lang="en-US" altLang="ko-KR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C5B4C62-5637-1103-7FEB-DF30AD49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39811"/>
              </p:ext>
            </p:extLst>
          </p:nvPr>
        </p:nvGraphicFramePr>
        <p:xfrm>
          <a:off x="1151708" y="1476977"/>
          <a:ext cx="7602583" cy="3640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1">
                  <a:extLst>
                    <a:ext uri="{9D8B030D-6E8A-4147-A177-3AD203B41FA5}">
                      <a16:colId xmlns:a16="http://schemas.microsoft.com/office/drawing/2014/main" val="1668938481"/>
                    </a:ext>
                  </a:extLst>
                </a:gridCol>
                <a:gridCol w="1419497">
                  <a:extLst>
                    <a:ext uri="{9D8B030D-6E8A-4147-A177-3AD203B41FA5}">
                      <a16:colId xmlns:a16="http://schemas.microsoft.com/office/drawing/2014/main" val="231337543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4210048026"/>
                    </a:ext>
                  </a:extLst>
                </a:gridCol>
                <a:gridCol w="3363685">
                  <a:extLst>
                    <a:ext uri="{9D8B030D-6E8A-4147-A177-3AD203B41FA5}">
                      <a16:colId xmlns:a16="http://schemas.microsoft.com/office/drawing/2014/main" val="3092570106"/>
                    </a:ext>
                  </a:extLst>
                </a:gridCol>
              </a:tblGrid>
              <a:tr h="1065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 Mode</a:t>
                      </a:r>
                    </a:p>
                    <a:p>
                      <a:pPr algn="ctr" latinLnBrk="1"/>
                      <a:r>
                        <a:rPr lang="en-US" altLang="ko-KR" dirty="0"/>
                        <a:t>(FPM)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Very Low</a:t>
                      </a:r>
                    </a:p>
                    <a:p>
                      <a:pPr algn="ctr" latinLnBrk="1"/>
                      <a:r>
                        <a:rPr lang="en-US" altLang="ko-KR" dirty="0"/>
                        <a:t>Speed Run</a:t>
                      </a:r>
                    </a:p>
                    <a:p>
                      <a:pPr algn="ctr" latinLnBrk="1"/>
                      <a:r>
                        <a:rPr lang="en-US" altLang="ko-KR" dirty="0"/>
                        <a:t>(VLSR)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Standby Mode (LPM)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646714"/>
                  </a:ext>
                </a:extLst>
              </a:tr>
              <a:tr h="532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주요 동작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최대 </a:t>
                      </a:r>
                      <a:r>
                        <a:rPr lang="en-US" altLang="ko-KR" sz="1200" dirty="0"/>
                        <a:t>160MHz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PLL </a:t>
                      </a:r>
                      <a:r>
                        <a:rPr lang="ko-KR" altLang="en-US" sz="1200" dirty="0"/>
                        <a:t>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FIRC 3MHz </a:t>
                      </a:r>
                      <a:r>
                        <a:rPr lang="ko-KR" altLang="en-US" sz="1200" dirty="0"/>
                        <a:t>기반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저속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Deep Sleep (Run </a:t>
                      </a:r>
                      <a:r>
                        <a:rPr lang="ko-KR" altLang="en-US" sz="1200" dirty="0"/>
                        <a:t>도메인 </a:t>
                      </a:r>
                      <a:r>
                        <a:rPr lang="en-US" altLang="ko-KR" sz="1200" dirty="0"/>
                        <a:t>Power-gate)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031626"/>
                  </a:ext>
                </a:extLst>
              </a:tr>
              <a:tr h="43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Flash </a:t>
                      </a:r>
                      <a:r>
                        <a:rPr lang="ko-KR" altLang="en-US" sz="1200" dirty="0"/>
                        <a:t>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Max Speed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750kHz </a:t>
                      </a:r>
                      <a:r>
                        <a:rPr lang="ko-KR" altLang="en-US" sz="1200" dirty="0"/>
                        <a:t>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Powered Off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935195"/>
                  </a:ext>
                </a:extLst>
              </a:tr>
              <a:tr h="43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SRAM </a:t>
                      </a:r>
                      <a:r>
                        <a:rPr lang="ko-KR" altLang="en-US" sz="1200" dirty="0"/>
                        <a:t>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</a:t>
                      </a:r>
                      <a:r>
                        <a:rPr lang="en-US" altLang="ko-KR" sz="1200" dirty="0"/>
                        <a:t>SRAM </a:t>
                      </a:r>
                      <a:r>
                        <a:rPr lang="ko-KR" altLang="en-US" sz="1200" dirty="0"/>
                        <a:t>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</a:t>
                      </a:r>
                      <a:r>
                        <a:rPr lang="en-US" altLang="ko-KR" sz="1200" dirty="0"/>
                        <a:t>SRAM </a:t>
                      </a:r>
                      <a:r>
                        <a:rPr lang="ko-KR" altLang="en-US" sz="1200" dirty="0"/>
                        <a:t>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32K Standby RAM Only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318568"/>
                  </a:ext>
                </a:extLst>
              </a:tr>
              <a:tr h="4320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복귀 지연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즉시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클록</a:t>
                      </a:r>
                      <a:r>
                        <a:rPr lang="ko-KR" altLang="en-US" sz="1200" dirty="0"/>
                        <a:t> 전환 지연 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Normal : 2.872ms / Fast : 872us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847437"/>
                  </a:ext>
                </a:extLst>
              </a:tr>
              <a:tr h="745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동작 가능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모듈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모든 모듈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모든 모듈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저속 동작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PMC, MC_PCU, WKUP, MC_RGM, RTC, PIT0(RTI), LPCMP(Max 3ch), SWT0, 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Standby RAM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389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961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58D9-20CB-6B76-25B1-F9B14389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9CD1E06-33E0-E983-F8B8-4E1EEE45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모드별 비교 및 </a:t>
            </a:r>
            <a:r>
              <a:rPr lang="en-US" altLang="ko-KR" b="1" dirty="0"/>
              <a:t>Application </a:t>
            </a:r>
            <a:r>
              <a:rPr lang="ko-KR" altLang="en-US" b="1" dirty="0"/>
              <a:t>선택 기준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2EFA492F-ED7E-397C-4862-6A5982890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3674"/>
            <a:ext cx="9601200" cy="2086577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b. Application</a:t>
            </a:r>
            <a:r>
              <a:rPr lang="ko-KR" altLang="en-US" b="1" dirty="0"/>
              <a:t> 별 모드 선택 가이드 </a:t>
            </a:r>
            <a:r>
              <a:rPr lang="en-US" altLang="ko-KR" b="1" dirty="0"/>
              <a:t>(examples)</a:t>
            </a:r>
          </a:p>
          <a:p>
            <a:pPr lvl="1">
              <a:buFontTx/>
              <a:buChar char="-"/>
            </a:pPr>
            <a:r>
              <a:rPr lang="ko-KR" altLang="en-US" b="1" dirty="0"/>
              <a:t>주행 중 고성능 처리 </a:t>
            </a:r>
            <a:r>
              <a:rPr lang="en-US" altLang="ko-KR" b="1" dirty="0"/>
              <a:t>(CAN/LIN </a:t>
            </a:r>
            <a:r>
              <a:rPr lang="ko-KR" altLang="en-US" b="1" dirty="0"/>
              <a:t>통신</a:t>
            </a:r>
            <a:r>
              <a:rPr lang="en-US" altLang="ko-KR" b="1" dirty="0"/>
              <a:t>, </a:t>
            </a:r>
            <a:r>
              <a:rPr lang="ko-KR" altLang="en-US" b="1" dirty="0"/>
              <a:t>제어 루프</a:t>
            </a:r>
            <a:r>
              <a:rPr lang="en-US" altLang="ko-KR" b="1" dirty="0"/>
              <a:t>) : Run Mode </a:t>
            </a:r>
            <a:r>
              <a:rPr lang="ko-KR" altLang="en-US" b="1" dirty="0"/>
              <a:t>적용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저속 센서 모니터링 </a:t>
            </a:r>
            <a:r>
              <a:rPr lang="en-US" altLang="ko-KR" b="1" dirty="0"/>
              <a:t>/ </a:t>
            </a:r>
            <a:r>
              <a:rPr lang="ko-KR" altLang="en-US" b="1" dirty="0"/>
              <a:t>대기 진입 전 준비 </a:t>
            </a:r>
            <a:r>
              <a:rPr lang="en-US" altLang="ko-KR" b="1" dirty="0"/>
              <a:t>: VLSR Mode </a:t>
            </a:r>
            <a:r>
              <a:rPr lang="ko-KR" altLang="en-US" b="1" dirty="0"/>
              <a:t>적용</a:t>
            </a:r>
            <a:r>
              <a:rPr lang="en-US" altLang="ko-KR" b="1" dirty="0"/>
              <a:t>, High-Clock </a:t>
            </a:r>
            <a:r>
              <a:rPr lang="ko-KR" altLang="en-US" b="1" dirty="0"/>
              <a:t>연산이 불필요한 주기적 </a:t>
            </a:r>
            <a:r>
              <a:rPr lang="en-US" altLang="ko-KR" b="1" dirty="0"/>
              <a:t>Task </a:t>
            </a:r>
            <a:r>
              <a:rPr lang="ko-KR" altLang="en-US" b="1" dirty="0"/>
              <a:t>수행 시 소모전력 절감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차량 주차 중 </a:t>
            </a:r>
            <a:r>
              <a:rPr lang="ko-KR" altLang="en-US" b="1" dirty="0" err="1"/>
              <a:t>초저전력</a:t>
            </a:r>
            <a:r>
              <a:rPr lang="ko-KR" altLang="en-US" b="1" dirty="0"/>
              <a:t> 대기 </a:t>
            </a:r>
            <a:r>
              <a:rPr lang="en-US" altLang="ko-KR" b="1" dirty="0"/>
              <a:t>(Automotive ECU Standby) : Standby Mode </a:t>
            </a:r>
            <a:r>
              <a:rPr lang="ko-KR" altLang="en-US" b="1" dirty="0"/>
              <a:t>적용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외부 통신 </a:t>
            </a:r>
            <a:r>
              <a:rPr lang="ko-KR" altLang="en-US" b="1" dirty="0" err="1"/>
              <a:t>트랜시버</a:t>
            </a:r>
            <a:r>
              <a:rPr lang="en-US" altLang="ko-KR" b="1" dirty="0"/>
              <a:t>(CAN/LIN Wakeup) </a:t>
            </a:r>
            <a:r>
              <a:rPr lang="ko-KR" altLang="en-US" b="1" dirty="0"/>
              <a:t>신호나 내부 </a:t>
            </a:r>
            <a:r>
              <a:rPr lang="en-US" altLang="ko-KR" b="1" dirty="0"/>
              <a:t>RTC, PIT0(RTI), LPCMP </a:t>
            </a:r>
            <a:r>
              <a:rPr lang="ko-KR" altLang="en-US" b="1" dirty="0"/>
              <a:t>아날로그 </a:t>
            </a:r>
            <a:r>
              <a:rPr lang="ko-KR" altLang="en-US" b="1" dirty="0" err="1"/>
              <a:t>임계값</a:t>
            </a:r>
            <a:r>
              <a:rPr lang="ko-KR" altLang="en-US" b="1" dirty="0"/>
              <a:t> 감지를 통한 </a:t>
            </a:r>
            <a:r>
              <a:rPr lang="en-US" altLang="ko-KR" b="1" dirty="0"/>
              <a:t>Wakeup </a:t>
            </a:r>
            <a:r>
              <a:rPr lang="ko-KR" altLang="en-US" b="1" dirty="0"/>
              <a:t>구조 설계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81798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990AE-852F-8FBB-8A0C-9117238F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BA61EBA-875B-5D41-BD53-54D6E566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4. </a:t>
            </a:r>
            <a:r>
              <a:rPr lang="ko-KR" altLang="en-US" b="1" dirty="0"/>
              <a:t>모드별 비교 및 </a:t>
            </a:r>
            <a:r>
              <a:rPr lang="en-US" altLang="ko-KR" b="1" dirty="0"/>
              <a:t>Application </a:t>
            </a:r>
            <a:r>
              <a:rPr lang="ko-KR" altLang="en-US" b="1" dirty="0"/>
              <a:t>선택 기준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8D747A50-7142-A897-8E5E-3DB684BD2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3674"/>
            <a:ext cx="9601200" cy="2086577"/>
          </a:xfrm>
        </p:spPr>
        <p:txBody>
          <a:bodyPr/>
          <a:lstStyle/>
          <a:p>
            <a:pPr marL="171450" lvl="1" indent="0">
              <a:buNone/>
            </a:pPr>
            <a:r>
              <a:rPr lang="en-US" altLang="ko-KR" b="1" dirty="0"/>
              <a:t>c. </a:t>
            </a:r>
            <a:r>
              <a:rPr lang="ko-KR" altLang="en-US" b="1" dirty="0"/>
              <a:t>소비전류 수치 관련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S32K3xx Datasheet </a:t>
            </a:r>
            <a:r>
              <a:rPr lang="ko-KR" altLang="en-US" b="1" dirty="0"/>
              <a:t>참조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아래 그림은 </a:t>
            </a:r>
            <a:r>
              <a:rPr lang="en-US" altLang="ko-KR" b="1" dirty="0"/>
              <a:t>S32K312 </a:t>
            </a:r>
            <a:r>
              <a:rPr lang="ko-KR" altLang="en-US" b="1" dirty="0"/>
              <a:t>의 </a:t>
            </a:r>
            <a:r>
              <a:rPr lang="en-US" altLang="ko-KR" b="1" dirty="0"/>
              <a:t>STANDBY Mode Supply currents </a:t>
            </a:r>
            <a:r>
              <a:rPr lang="ko-KR" altLang="en-US" b="1" dirty="0"/>
              <a:t>를 나타내는 표 입니다</a:t>
            </a:r>
            <a:r>
              <a:rPr lang="en-US" altLang="ko-KR" b="1" dirty="0"/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7BCFEA0-1721-6459-AFED-ED2838FC9F98}"/>
              </a:ext>
            </a:extLst>
          </p:cNvPr>
          <p:cNvGrpSpPr/>
          <p:nvPr/>
        </p:nvGrpSpPr>
        <p:grpSpPr>
          <a:xfrm>
            <a:off x="1465805" y="2007645"/>
            <a:ext cx="5971315" cy="3353245"/>
            <a:chOff x="143691" y="476342"/>
            <a:chExt cx="9631119" cy="599206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6E47C78-5096-8FBC-3E83-77D358296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885" y="2915082"/>
              <a:ext cx="9602540" cy="355332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9613748-C73C-C47D-88F4-7CDAEB489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691" y="476342"/>
              <a:ext cx="9631119" cy="2438740"/>
            </a:xfrm>
            <a:prstGeom prst="rect">
              <a:avLst/>
            </a:prstGeom>
          </p:spPr>
        </p:pic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84A55D4-F016-41B6-3A27-C2B5CDCDF1B6}"/>
              </a:ext>
            </a:extLst>
          </p:cNvPr>
          <p:cNvCxnSpPr/>
          <p:nvPr/>
        </p:nvCxnSpPr>
        <p:spPr bwMode="auto">
          <a:xfrm>
            <a:off x="6313714" y="5477691"/>
            <a:ext cx="0" cy="410277"/>
          </a:xfrm>
          <a:prstGeom prst="straightConnector1">
            <a:avLst/>
          </a:prstGeom>
          <a:solidFill>
            <a:schemeClr val="folHlink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D2BBDE-43F5-62A7-56D2-9BAE460C8817}"/>
              </a:ext>
            </a:extLst>
          </p:cNvPr>
          <p:cNvSpPr txBox="1"/>
          <p:nvPr/>
        </p:nvSpPr>
        <p:spPr>
          <a:xfrm>
            <a:off x="5754252" y="5988326"/>
            <a:ext cx="376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aseline="0" dirty="0">
                <a:ea typeface="+mj-ea"/>
              </a:rPr>
              <a:t>FIRC </a:t>
            </a:r>
            <a:r>
              <a:rPr lang="ko-KR" altLang="en-US" sz="1000" baseline="0" dirty="0">
                <a:ea typeface="+mj-ea"/>
              </a:rPr>
              <a:t>유지</a:t>
            </a:r>
            <a:r>
              <a:rPr lang="en-US" altLang="ko-KR" sz="1000" baseline="0" dirty="0">
                <a:ea typeface="+mj-ea"/>
              </a:rPr>
              <a:t>: Wake-up </a:t>
            </a:r>
            <a:r>
              <a:rPr lang="ko-KR" altLang="en-US" sz="1000" baseline="0" dirty="0">
                <a:ea typeface="+mj-ea"/>
              </a:rPr>
              <a:t>지연 감소 </a:t>
            </a:r>
            <a:r>
              <a:rPr lang="en-US" altLang="ko-KR" sz="1000" dirty="0">
                <a:ea typeface="+mj-ea"/>
              </a:rPr>
              <a:t>&lt;-&gt; Standby </a:t>
            </a:r>
            <a:r>
              <a:rPr lang="ko-KR" altLang="en-US" sz="1000" dirty="0">
                <a:ea typeface="+mj-ea"/>
              </a:rPr>
              <a:t>소비전류 증가</a:t>
            </a:r>
            <a:endParaRPr lang="ko-KR" altLang="en-US" sz="1000" baseline="0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52310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08DF-BF6C-44AA-AA64-01549BE7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4166F6C-98F5-FF95-40DE-F15942123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325"/>
            <a:ext cx="9598025" cy="369332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SzPct val="100000"/>
              <a:buFont typeface="Arial"/>
              <a:buAutoNum type="arabicPeriod"/>
            </a:pPr>
            <a:r>
              <a:rPr lang="en-US" altLang="ko-KR" b="1" dirty="0"/>
              <a:t>5. </a:t>
            </a:r>
            <a:r>
              <a:rPr lang="ko-KR" altLang="en-US" b="1" dirty="0"/>
              <a:t>저전력 전류 측정 수칙</a:t>
            </a: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A0BF0D5-7506-F88E-3A47-F5B48E500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3674"/>
            <a:ext cx="9601200" cy="4263720"/>
          </a:xfrm>
        </p:spPr>
        <p:txBody>
          <a:bodyPr/>
          <a:lstStyle/>
          <a:p>
            <a:pPr marL="171450" lvl="1" indent="0">
              <a:buNone/>
            </a:pPr>
            <a:r>
              <a:rPr lang="ko-KR" altLang="en-US" b="1" dirty="0"/>
              <a:t>저전력 전류 측정 수칙</a:t>
            </a: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DMM </a:t>
            </a:r>
            <a:r>
              <a:rPr lang="ko-KR" altLang="en-US" b="1" dirty="0"/>
              <a:t>측정 제어 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디지털 </a:t>
            </a:r>
            <a:r>
              <a:rPr lang="ko-KR" altLang="en-US" b="1" dirty="0" err="1"/>
              <a:t>멀티미터</a:t>
            </a:r>
            <a:r>
              <a:rPr lang="ko-KR" altLang="en-US" b="1" dirty="0"/>
              <a:t> 사용 시 반드시 </a:t>
            </a:r>
            <a:r>
              <a:rPr lang="en-US" altLang="ko-KR" b="1" dirty="0"/>
              <a:t>Manual Range Mode</a:t>
            </a:r>
            <a:r>
              <a:rPr lang="ko-KR" altLang="en-US" b="1" dirty="0"/>
              <a:t>로 설정해야 합니다</a:t>
            </a:r>
            <a:r>
              <a:rPr lang="en-US" altLang="ko-KR" b="1" dirty="0"/>
              <a:t>. Auto-Range </a:t>
            </a:r>
            <a:r>
              <a:rPr lang="ko-KR" altLang="en-US" b="1" dirty="0"/>
              <a:t>설정 시 </a:t>
            </a:r>
            <a:r>
              <a:rPr lang="en-US" altLang="ko-KR" b="1" dirty="0"/>
              <a:t>Standby -&gt; Run </a:t>
            </a:r>
            <a:r>
              <a:rPr lang="ko-KR" altLang="en-US" b="1" dirty="0"/>
              <a:t>복귀 순간의 돌입 전류</a:t>
            </a:r>
            <a:r>
              <a:rPr lang="en-US" altLang="ko-KR" b="1" dirty="0"/>
              <a:t>(Inrush Current)</a:t>
            </a:r>
            <a:r>
              <a:rPr lang="ko-KR" altLang="en-US" b="1" dirty="0"/>
              <a:t>로 인해 </a:t>
            </a:r>
            <a:r>
              <a:rPr lang="en-US" altLang="ko-KR" b="1" dirty="0"/>
              <a:t>DMM </a:t>
            </a:r>
            <a:r>
              <a:rPr lang="ko-KR" altLang="en-US" b="1" dirty="0" err="1"/>
              <a:t>스위칭</a:t>
            </a:r>
            <a:r>
              <a:rPr lang="ko-KR" altLang="en-US" b="1" dirty="0"/>
              <a:t> 지연이 생겨 </a:t>
            </a:r>
            <a:r>
              <a:rPr lang="en-US" altLang="ko-KR" b="1" dirty="0"/>
              <a:t>LVD/POR </a:t>
            </a:r>
            <a:r>
              <a:rPr lang="ko-KR" altLang="en-US" b="1" dirty="0"/>
              <a:t>리셋이 유발됩니다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 err="1"/>
              <a:t>디버거</a:t>
            </a:r>
            <a:r>
              <a:rPr lang="ko-KR" altLang="en-US" b="1" dirty="0"/>
              <a:t> 물리적 분리 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전류 </a:t>
            </a:r>
            <a:r>
              <a:rPr lang="ko-KR" altLang="en-US" b="1" dirty="0" err="1"/>
              <a:t>측정시</a:t>
            </a:r>
            <a:r>
              <a:rPr lang="ko-KR" altLang="en-US" b="1" dirty="0"/>
              <a:t> </a:t>
            </a:r>
            <a:r>
              <a:rPr lang="en-US" altLang="ko-KR" b="1" dirty="0"/>
              <a:t>JTAG/SWD </a:t>
            </a:r>
            <a:r>
              <a:rPr lang="ko-KR" altLang="en-US" b="1" dirty="0" err="1"/>
              <a:t>디버거를</a:t>
            </a:r>
            <a:r>
              <a:rPr lang="ko-KR" altLang="en-US" b="1" dirty="0"/>
              <a:t> 떼어내고 </a:t>
            </a:r>
            <a:r>
              <a:rPr lang="en-US" altLang="ko-KR" b="1" dirty="0"/>
              <a:t>Target </a:t>
            </a:r>
            <a:r>
              <a:rPr lang="ko-KR" altLang="en-US" b="1" dirty="0"/>
              <a:t>전원을 다시 인가</a:t>
            </a:r>
            <a:r>
              <a:rPr lang="en-US" altLang="ko-KR" b="1" dirty="0"/>
              <a:t>(Power Cycle) </a:t>
            </a:r>
            <a:r>
              <a:rPr lang="ko-KR" altLang="en-US" b="1" dirty="0"/>
              <a:t>해야 합니다</a:t>
            </a:r>
            <a:r>
              <a:rPr lang="en-US" altLang="ko-KR" b="1" dirty="0"/>
              <a:t>. </a:t>
            </a:r>
            <a:r>
              <a:rPr lang="ko-KR" altLang="en-US" b="1" dirty="0" err="1"/>
              <a:t>디버거</a:t>
            </a:r>
            <a:r>
              <a:rPr lang="ko-KR" altLang="en-US" b="1" dirty="0"/>
              <a:t> 연결 시 </a:t>
            </a:r>
            <a:r>
              <a:rPr lang="en-US" altLang="ko-KR" b="1" dirty="0"/>
              <a:t>JTAG </a:t>
            </a:r>
            <a:r>
              <a:rPr lang="ko-KR" altLang="en-US" b="1" dirty="0"/>
              <a:t>모듈 핑 및 </a:t>
            </a:r>
            <a:r>
              <a:rPr lang="en-US" altLang="ko-KR" b="1" dirty="0"/>
              <a:t>I/O </a:t>
            </a:r>
            <a:r>
              <a:rPr lang="ko-KR" altLang="en-US" b="1" dirty="0"/>
              <a:t>로드로 인해 수십 </a:t>
            </a:r>
            <a:r>
              <a:rPr lang="en-US" altLang="ko-KR" b="1" dirty="0" err="1"/>
              <a:t>uA</a:t>
            </a:r>
            <a:r>
              <a:rPr lang="en-US" altLang="ko-KR" b="1" dirty="0"/>
              <a:t> </a:t>
            </a:r>
            <a:r>
              <a:rPr lang="ko-KR" altLang="en-US" b="1" dirty="0"/>
              <a:t>이상의 불필요한 전류가 측정됩니다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endParaRPr lang="en-US" altLang="ko-KR" b="1" dirty="0"/>
          </a:p>
          <a:p>
            <a:pPr lvl="1">
              <a:buFontTx/>
              <a:buChar char="-"/>
            </a:pPr>
            <a:r>
              <a:rPr lang="ko-KR" altLang="en-US" b="1" dirty="0"/>
              <a:t>미사용 핀</a:t>
            </a:r>
            <a:r>
              <a:rPr lang="en-US" altLang="ko-KR" b="1" dirty="0"/>
              <a:t>(Unused Pins) HW/SW </a:t>
            </a:r>
            <a:r>
              <a:rPr lang="ko-KR" altLang="en-US" b="1" dirty="0"/>
              <a:t>처리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미사용 </a:t>
            </a:r>
            <a:r>
              <a:rPr lang="en-US" altLang="ko-KR" b="1" dirty="0"/>
              <a:t>Digital/Analog </a:t>
            </a:r>
            <a:r>
              <a:rPr lang="ko-KR" altLang="en-US" b="1" dirty="0"/>
              <a:t>핀은 </a:t>
            </a:r>
            <a:r>
              <a:rPr lang="en-US" altLang="ko-KR" b="1" dirty="0"/>
              <a:t>DISABLED (Hi-Z) </a:t>
            </a:r>
            <a:r>
              <a:rPr lang="ko-KR" altLang="en-US" b="1" dirty="0"/>
              <a:t>상태로 설정합니다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en-US" altLang="ko-KR" b="1" dirty="0"/>
              <a:t>Floating </a:t>
            </a:r>
            <a:r>
              <a:rPr lang="ko-KR" altLang="en-US" b="1" dirty="0"/>
              <a:t>입력을 방지하지 않으면 내부 </a:t>
            </a:r>
            <a:r>
              <a:rPr lang="en-US" altLang="ko-KR" b="1" dirty="0"/>
              <a:t>NMOS/PMOS</a:t>
            </a:r>
            <a:r>
              <a:rPr lang="ko-KR" altLang="en-US" b="1" dirty="0"/>
              <a:t>가 동시에 켜져 핀당 </a:t>
            </a:r>
            <a:r>
              <a:rPr lang="en-US" altLang="ko-KR" b="1" dirty="0"/>
              <a:t>50~80uA</a:t>
            </a:r>
            <a:r>
              <a:rPr lang="ko-KR" altLang="en-US" b="1" dirty="0"/>
              <a:t>의 누설 전류가 발생합니다</a:t>
            </a:r>
            <a:r>
              <a:rPr lang="en-US" altLang="ko-KR" b="1" dirty="0"/>
              <a:t>.</a:t>
            </a:r>
          </a:p>
          <a:p>
            <a:pPr lvl="2">
              <a:buFontTx/>
              <a:buChar char="-"/>
            </a:pPr>
            <a:r>
              <a:rPr lang="ko-KR" altLang="en-US" b="1" dirty="0"/>
              <a:t>미사용 </a:t>
            </a:r>
            <a:r>
              <a:rPr lang="en-US" altLang="ko-KR" b="1" dirty="0"/>
              <a:t>ADC </a:t>
            </a:r>
            <a:r>
              <a:rPr lang="ko-KR" altLang="en-US" b="1" dirty="0"/>
              <a:t>핀은 </a:t>
            </a:r>
            <a:r>
              <a:rPr lang="en-US" altLang="ko-KR" b="1" dirty="0"/>
              <a:t>VSS/Ground</a:t>
            </a:r>
            <a:r>
              <a:rPr lang="ko-KR" altLang="en-US" b="1"/>
              <a:t>에 연결하여 </a:t>
            </a:r>
            <a:r>
              <a:rPr lang="en-US" altLang="ko-KR" b="1" dirty="0"/>
              <a:t>SW</a:t>
            </a:r>
            <a:r>
              <a:rPr lang="ko-KR" altLang="en-US" b="1" dirty="0"/>
              <a:t>변환을 유발하지 않아야 합니다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endParaRPr lang="en-US" altLang="ko-KR" b="1" dirty="0"/>
          </a:p>
          <a:p>
            <a:pPr lvl="1">
              <a:buFontTx/>
              <a:buChar char="-"/>
            </a:pPr>
            <a:r>
              <a:rPr lang="en-US" altLang="ko-KR" b="1" dirty="0"/>
              <a:t>Clock Monitor </a:t>
            </a:r>
            <a:r>
              <a:rPr lang="ko-KR" altLang="en-US" b="1" dirty="0"/>
              <a:t>및 </a:t>
            </a:r>
            <a:r>
              <a:rPr lang="en-US" altLang="ko-KR" b="1" dirty="0"/>
              <a:t>CLKOUT </a:t>
            </a:r>
            <a:r>
              <a:rPr lang="ko-KR" altLang="en-US" b="1" dirty="0"/>
              <a:t>차단 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b="1" dirty="0"/>
              <a:t>저전력 진입 전 </a:t>
            </a:r>
            <a:r>
              <a:rPr lang="en-US" altLang="ko-KR" b="1" dirty="0" err="1"/>
              <a:t>Clcok</a:t>
            </a:r>
            <a:r>
              <a:rPr lang="en-US" altLang="ko-KR" b="1" dirty="0"/>
              <a:t> Monitor </a:t>
            </a:r>
            <a:r>
              <a:rPr lang="ko-KR" altLang="en-US" b="1" dirty="0"/>
              <a:t>및 외부 </a:t>
            </a:r>
            <a:r>
              <a:rPr lang="en-US" altLang="ko-KR" b="1" dirty="0"/>
              <a:t>CLKOUT </a:t>
            </a:r>
            <a:r>
              <a:rPr lang="ko-KR" altLang="en-US" b="1" dirty="0"/>
              <a:t>출력을 반드시 끕니다</a:t>
            </a:r>
            <a:r>
              <a:rPr lang="en-US" altLang="ko-KR" b="1" dirty="0"/>
              <a:t>.</a:t>
            </a:r>
          </a:p>
          <a:p>
            <a:pPr lvl="1">
              <a:buFontTx/>
              <a:buChar char="-"/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0200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2272" y="1298150"/>
            <a:ext cx="8458200" cy="461665"/>
          </a:xfrm>
        </p:spPr>
        <p:txBody>
          <a:bodyPr/>
          <a:lstStyle/>
          <a:p>
            <a:pPr algn="ctr"/>
            <a:r>
              <a:rPr lang="en-US" altLang="zh-TW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You!</a:t>
            </a:r>
            <a:endParaRPr lang="zh-TW" alt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052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PAGE" val="1"/>
  <p:tag name="LAYOUT" val="ppLayoutTitle"/>
</p:tagLst>
</file>

<file path=ppt/theme/theme1.xml><?xml version="1.0" encoding="utf-8"?>
<a:theme xmlns:a="http://schemas.openxmlformats.org/drawingml/2006/main" name="Custom Template">
  <a:themeElements>
    <a:clrScheme name="Custom 10">
      <a:dk1>
        <a:srgbClr val="000000"/>
      </a:dk1>
      <a:lt1>
        <a:srgbClr val="FFFFFF"/>
      </a:lt1>
      <a:dk2>
        <a:srgbClr val="F9BD11"/>
      </a:dk2>
      <a:lt2>
        <a:srgbClr val="A674B6"/>
      </a:lt2>
      <a:accent1>
        <a:srgbClr val="6B1785"/>
      </a:accent1>
      <a:accent2>
        <a:srgbClr val="E85296"/>
      </a:accent2>
      <a:accent3>
        <a:srgbClr val="223684"/>
      </a:accent3>
      <a:accent4>
        <a:srgbClr val="FA9E26"/>
      </a:accent4>
      <a:accent5>
        <a:srgbClr val="64A544"/>
      </a:accent5>
      <a:accent6>
        <a:srgbClr val="707070"/>
      </a:accent6>
      <a:hlink>
        <a:srgbClr val="57C4E5"/>
      </a:hlink>
      <a:folHlink>
        <a:srgbClr val="1E264D"/>
      </a:folHlink>
    </a:clrScheme>
    <a:fontScheme name="Custom 3">
      <a:majorFont>
        <a:latin typeface="Arial"/>
        <a:ea typeface="微軟正黑體"/>
        <a:cs typeface=""/>
      </a:majorFont>
      <a:minorFont>
        <a:latin typeface="Arial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solidFill>
          <a:schemeClr val="folHlink"/>
        </a:solidFill>
        <a:ln w="6350" cap="flat" cmpd="sng" algn="ctr">
          <a:solidFill>
            <a:schemeClr val="accent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/>
  <a:custClrLst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99CEB1"/>
    </a:custClr>
    <a:custClr name="Plum">
      <a:srgbClr val="890C58"/>
    </a:custClr>
    <a:custClr name="Plum Tint">
      <a:srgbClr val="D09EBC"/>
    </a:custClr>
    <a:custClr name="Olive">
      <a:srgbClr val="949300"/>
    </a:custClr>
    <a:custClr name="Olive Tint">
      <a:srgbClr val="D4D499"/>
    </a:custClr>
    <a:custClr name="White">
      <a:srgbClr val="FFFFFF"/>
    </a:custClr>
    <a:custClr name="White">
      <a:srgbClr val="FFFFFF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  <a:extLst>
    <a:ext uri="{05A4C25C-085E-4340-85A3-A5531E510DB2}">
      <thm15:themeFamily xmlns:thm15="http://schemas.microsoft.com/office/thememl/2012/main" name="ICG_Pres(A4).potx" id="{1CAD92D0-11EB-452F-80BC-0D788F84B31A}" vid="{B63DEF18-A341-4094-9B81-407A50896A4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XMLData TextToDisplay="%CLASSIFICATIONDATETIME%">03:26 22/03/2022</XMLDat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XMLData TextToDisplay="%DOCUMENTGUID%">{00000000-0000-0000-0000-000000000000}</XMLData>
</file>

<file path=customXml/item4.xml><?xml version="1.0" encoding="utf-8"?>
<XMLData TextToDisplay="RightsWATCHMark">7|CITI-No PII-Public|{00000000-0000-0000-0000-000000000000}</XMLData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A40CA4937FA046B44BA4208E4DF998" ma:contentTypeVersion="13" ma:contentTypeDescription="Create a new document." ma:contentTypeScope="" ma:versionID="ae8adf9f4d100097ed186c74e2831401">
  <xsd:schema xmlns:xsd="http://www.w3.org/2001/XMLSchema" xmlns:xs="http://www.w3.org/2001/XMLSchema" xmlns:p="http://schemas.microsoft.com/office/2006/metadata/properties" xmlns:ns3="fde19fd9-f985-403f-9ecd-a8c85f1eeb36" targetNamespace="http://schemas.microsoft.com/office/2006/metadata/properties" ma:root="true" ma:fieldsID="b107c76459a48fda46627da58d915426" ns3:_="">
    <xsd:import namespace="fde19fd9-f985-403f-9ecd-a8c85f1eeb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SearchProperties" minOccurs="0"/>
                <xsd:element ref="ns3:MediaServiceSystemTag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e19fd9-f985-403f-9ecd-a8c85f1ee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>
  <documentManagement>
    <_activity xmlns="fde19fd9-f985-403f-9ecd-a8c85f1eeb36" xsi:nil="true"/>
  </documentManagement>
</p:properties>
</file>

<file path=customXml/itemProps1.xml><?xml version="1.0" encoding="utf-8"?>
<ds:datastoreItem xmlns:ds="http://schemas.openxmlformats.org/officeDocument/2006/customXml" ds:itemID="{6F780264-2E58-4E7B-A6F7-95BC81B5F9AF}">
  <ds:schemaRefs/>
</ds:datastoreItem>
</file>

<file path=customXml/itemProps2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936F8-D8E2-4141-B8BA-3072053A0290}">
  <ds:schemaRefs/>
</ds:datastoreItem>
</file>

<file path=customXml/itemProps4.xml><?xml version="1.0" encoding="utf-8"?>
<ds:datastoreItem xmlns:ds="http://schemas.openxmlformats.org/officeDocument/2006/customXml" ds:itemID="{8C0C9B8C-B691-458C-88F0-6A2CFAD11F61}">
  <ds:schemaRefs/>
</ds:datastoreItem>
</file>

<file path=customXml/itemProps5.xml><?xml version="1.0" encoding="utf-8"?>
<ds:datastoreItem xmlns:ds="http://schemas.openxmlformats.org/officeDocument/2006/customXml" ds:itemID="{DE234E50-49FA-4A0D-A886-3B41CD5E79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e19fd9-f985-403f-9ecd-a8c85f1eeb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EB160343-857B-421C-B78C-26DAF858986D}">
  <ds:schemaRefs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fde19fd9-f985-403f-9ecd-a8c85f1eeb36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26155</TotalTime>
  <Words>1615</Words>
  <Application>Microsoft Office PowerPoint</Application>
  <PresentationFormat>A4 용지(210x297mm)</PresentationFormat>
  <Paragraphs>157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微軟正黑體</vt:lpstr>
      <vt:lpstr>Arial</vt:lpstr>
      <vt:lpstr>Symbol</vt:lpstr>
      <vt:lpstr>Wingdings</vt:lpstr>
      <vt:lpstr>Custom Template</vt:lpstr>
      <vt:lpstr>PowerPoint 프레젠테이션</vt:lpstr>
      <vt:lpstr>목차</vt:lpstr>
      <vt:lpstr>1. Low Power 모드 개요 및 필요성</vt:lpstr>
      <vt:lpstr>1. Low Power 모드 개요 및 필요성</vt:lpstr>
      <vt:lpstr>1. Low Power 모드 개요 및 필요성</vt:lpstr>
      <vt:lpstr>1. Low Power 모드 개요 및 필요성</vt:lpstr>
      <vt:lpstr>2. CPU,클럭,전원,메모리 관점의 동작 원리 </vt:lpstr>
      <vt:lpstr>2. CPU,클럭,전원,메모리 관점의 동작 원리 </vt:lpstr>
      <vt:lpstr>2. CPU,클럭,전원,메모리 관점의 동작 원리 </vt:lpstr>
      <vt:lpstr>2. CPU,클럭,전원,메모리 관점의 동작 원리 </vt:lpstr>
      <vt:lpstr>3. 모드 간 전환, 진입 조건 및 Wake-Up 후 실행 흐름</vt:lpstr>
      <vt:lpstr>3. 모드 간 전환, 진입 조건 및 Wake-Up 후 실행 흐름</vt:lpstr>
      <vt:lpstr>3. 모드 간 전환, 진입 조건 및 Wake-Up 후 실행 흐름</vt:lpstr>
      <vt:lpstr>3. 모드 간 전환, 진입 조건 및 Wake-Up 후 실행 흐름</vt:lpstr>
      <vt:lpstr>4. 모드별 비교 및 Application 선택 기준</vt:lpstr>
      <vt:lpstr>4. 모드별 비교 및 Application 선택 기준</vt:lpstr>
      <vt:lpstr>4. 모드별 비교 및 Application 선택 기준</vt:lpstr>
      <vt:lpstr>5. 저전력 전류 측정 수칙</vt:lpstr>
      <vt:lpstr>Thank You!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Dave, Akhil [CCC-OT NE]</dc:creator>
  <cp:lastModifiedBy>David Kang(강석준)(Korea)</cp:lastModifiedBy>
  <cp:revision>1185</cp:revision>
  <cp:lastPrinted>2022-03-22T03:30:12Z</cp:lastPrinted>
  <dcterms:created xsi:type="dcterms:W3CDTF">2019-02-25T10:38:13Z</dcterms:created>
  <dcterms:modified xsi:type="dcterms:W3CDTF">2026-10-14T00:21:55Z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true</vt:bool>
  </property>
  <property fmtid="{D5CDD505-2E9C-101B-9397-08002B2CF9AE}" pid="4" name="PageNumAlign">
    <vt:lpwstr>L</vt:lpwstr>
  </property>
  <property fmtid="{D5CDD505-2E9C-101B-9397-08002B2CF9AE}" pid="5" name="SectionTitleAlign">
    <vt:lpwstr>L</vt:lpwstr>
  </property>
  <property fmtid="{D5CDD505-2E9C-101B-9397-08002B2CF9AE}" pid="6" name="PageNumberTop">
    <vt:lpwstr>529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24.44</vt:lpwstr>
  </property>
  <property fmtid="{D5CDD505-2E9C-101B-9397-08002B2CF9AE}" pid="10" name="SectionTitleTop">
    <vt:lpwstr>529</vt:lpwstr>
  </property>
  <property fmtid="{D5CDD505-2E9C-101B-9397-08002B2CF9AE}" pid="11" name="SectionTitleLeft">
    <vt:lpwstr>37.44</vt:lpwstr>
  </property>
  <property fmtid="{D5CDD505-2E9C-101B-9397-08002B2CF9AE}" pid="12" name="TOCHeaderTop">
    <vt:lpwstr>4.49937</vt:lpwstr>
  </property>
  <property fmtid="{D5CDD505-2E9C-101B-9397-08002B2CF9AE}" pid="13" name="TOCHeaderLeft">
    <vt:lpwstr>12.24</vt:lpwstr>
  </property>
  <property fmtid="{D5CDD505-2E9C-101B-9397-08002B2CF9AE}" pid="14" name="CitiLogoTop">
    <vt:lpwstr>517.25</vt:lpwstr>
  </property>
  <property fmtid="{D5CDD505-2E9C-101B-9397-08002B2CF9AE}" pid="15" name="CitiLogoLeft">
    <vt:lpwstr>736.75</vt:lpwstr>
  </property>
  <property fmtid="{D5CDD505-2E9C-101B-9397-08002B2CF9AE}" pid="16" name="RightsWATCHMark">
    <vt:lpwstr>7|CITI-No PII-Public|{00000000-0000-0000-0000-000000000000}</vt:lpwstr>
  </property>
  <property fmtid="{D5CDD505-2E9C-101B-9397-08002B2CF9AE}" pid="17" name="MSIP_Label_0133068c-5f3b-4062-adca-9b17e9c90306_Enabled">
    <vt:lpwstr>true</vt:lpwstr>
  </property>
  <property fmtid="{D5CDD505-2E9C-101B-9397-08002B2CF9AE}" pid="18" name="MSIP_Label_0133068c-5f3b-4062-adca-9b17e9c90306_SetDate">
    <vt:lpwstr>2024-02-26T04:49:14Z</vt:lpwstr>
  </property>
  <property fmtid="{D5CDD505-2E9C-101B-9397-08002B2CF9AE}" pid="19" name="MSIP_Label_0133068c-5f3b-4062-adca-9b17e9c90306_Method">
    <vt:lpwstr>Privileged</vt:lpwstr>
  </property>
  <property fmtid="{D5CDD505-2E9C-101B-9397-08002B2CF9AE}" pid="20" name="MSIP_Label_0133068c-5f3b-4062-adca-9b17e9c90306_Name">
    <vt:lpwstr>Confidential</vt:lpwstr>
  </property>
  <property fmtid="{D5CDD505-2E9C-101B-9397-08002B2CF9AE}" pid="21" name="MSIP_Label_0133068c-5f3b-4062-adca-9b17e9c90306_SiteId">
    <vt:lpwstr>1771ae17-e764-4e0f-a476-d4184d79a5d9</vt:lpwstr>
  </property>
  <property fmtid="{D5CDD505-2E9C-101B-9397-08002B2CF9AE}" pid="22" name="MSIP_Label_0133068c-5f3b-4062-adca-9b17e9c90306_ActionId">
    <vt:lpwstr>b9989c02-7130-44e9-8a0c-db60b8bfcd59</vt:lpwstr>
  </property>
  <property fmtid="{D5CDD505-2E9C-101B-9397-08002B2CF9AE}" pid="23" name="MSIP_Label_0133068c-5f3b-4062-adca-9b17e9c90306_ContentBits">
    <vt:lpwstr>0</vt:lpwstr>
  </property>
  <property fmtid="{D5CDD505-2E9C-101B-9397-08002B2CF9AE}" pid="24" name="TOCOpt">
    <vt:lpwstr>1</vt:lpwstr>
  </property>
  <property fmtid="{D5CDD505-2E9C-101B-9397-08002B2CF9AE}" pid="25" name="PageNumberCustomTop">
    <vt:lpwstr>529</vt:lpwstr>
  </property>
  <property fmtid="{D5CDD505-2E9C-101B-9397-08002B2CF9AE}" pid="26" name="PageNumberCustomLeft">
    <vt:lpwstr>13</vt:lpwstr>
  </property>
  <property fmtid="{D5CDD505-2E9C-101B-9397-08002B2CF9AE}" pid="27" name="Is_Custom_Template">
    <vt:lpwstr>true</vt:lpwstr>
  </property>
  <property fmtid="{D5CDD505-2E9C-101B-9397-08002B2CF9AE}" pid="28" name="PNSOpt">
    <vt:lpwstr>5</vt:lpwstr>
  </property>
  <property fmtid="{D5CDD505-2E9C-101B-9397-08002B2CF9AE}" pid="29" name="Pitchbook Compatible">
    <vt:lpwstr>Yes</vt:lpwstr>
  </property>
  <property fmtid="{D5CDD505-2E9C-101B-9397-08002B2CF9AE}" pid="30" name="ContentTypeId">
    <vt:lpwstr>0x01010097A40CA4937FA046B44BA4208E4DF998</vt:lpwstr>
  </property>
</Properties>
</file>