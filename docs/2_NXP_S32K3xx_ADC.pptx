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7"/>
  </p:sldMasterIdLst>
  <p:notesMasterIdLst>
    <p:notesMasterId r:id="rId25"/>
  </p:notesMasterIdLst>
  <p:handoutMasterIdLst>
    <p:handoutMasterId r:id="rId26"/>
  </p:handoutMasterIdLst>
  <p:sldIdLst>
    <p:sldId id="2147480979" r:id="rId8"/>
    <p:sldId id="2147480982" r:id="rId9"/>
    <p:sldId id="2147480980" r:id="rId10"/>
    <p:sldId id="2147480991" r:id="rId11"/>
    <p:sldId id="2147480992" r:id="rId12"/>
    <p:sldId id="2147480993" r:id="rId13"/>
    <p:sldId id="2147480994" r:id="rId14"/>
    <p:sldId id="2147480995" r:id="rId15"/>
    <p:sldId id="2147480996" r:id="rId16"/>
    <p:sldId id="2147481000" r:id="rId17"/>
    <p:sldId id="2147480997" r:id="rId18"/>
    <p:sldId id="2147480998" r:id="rId19"/>
    <p:sldId id="2147481003" r:id="rId20"/>
    <p:sldId id="2147480999" r:id="rId21"/>
    <p:sldId id="2147481001" r:id="rId22"/>
    <p:sldId id="2147481002" r:id="rId23"/>
    <p:sldId id="2147480977" r:id="rId24"/>
  </p:sldIdLst>
  <p:sldSz cx="9906000" cy="6858000" type="A4"/>
  <p:notesSz cx="6810375" cy="99425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49AF0A-130C-4D78-998C-A58D92764F20}">
          <p14:sldIdLst>
            <p14:sldId id="2147480979"/>
            <p14:sldId id="2147480982"/>
            <p14:sldId id="2147480980"/>
            <p14:sldId id="2147480991"/>
            <p14:sldId id="2147480992"/>
            <p14:sldId id="2147480993"/>
            <p14:sldId id="2147480994"/>
            <p14:sldId id="2147480995"/>
            <p14:sldId id="2147480996"/>
            <p14:sldId id="2147481000"/>
            <p14:sldId id="2147480997"/>
            <p14:sldId id="2147480998"/>
            <p14:sldId id="2147481003"/>
            <p14:sldId id="2147480999"/>
            <p14:sldId id="2147481001"/>
            <p14:sldId id="2147481002"/>
            <p14:sldId id="21474809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2" userDrawn="1">
          <p15:clr>
            <a:srgbClr val="A4A3A4"/>
          </p15:clr>
        </p15:guide>
        <p15:guide id="2" orient="horz" pos="2352">
          <p15:clr>
            <a:srgbClr val="A4A3A4"/>
          </p15:clr>
        </p15:guide>
        <p15:guide id="3" orient="horz" pos="336" userDrawn="1">
          <p15:clr>
            <a:srgbClr val="A4A3A4"/>
          </p15:clr>
        </p15:guide>
        <p15:guide id="4" orient="horz" pos="552" userDrawn="1">
          <p15:clr>
            <a:srgbClr val="A4A3A4"/>
          </p15:clr>
        </p15:guide>
        <p15:guide id="5" orient="horz" pos="3816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orient="horz" pos="1008" userDrawn="1">
          <p15:clr>
            <a:srgbClr val="A4A3A4"/>
          </p15:clr>
        </p15:guide>
        <p15:guide id="8" orient="horz" pos="408" userDrawn="1">
          <p15:clr>
            <a:srgbClr val="A4A3A4"/>
          </p15:clr>
        </p15:guide>
        <p15:guide id="9" pos="1344" userDrawn="1">
          <p15:clr>
            <a:srgbClr val="A4A3A4"/>
          </p15:clr>
        </p15:guide>
        <p15:guide id="10" pos="3312" userDrawn="1">
          <p15:clr>
            <a:srgbClr val="A4A3A4"/>
          </p15:clr>
        </p15:guide>
        <p15:guide id="11" pos="1296" userDrawn="1">
          <p15:clr>
            <a:srgbClr val="A4A3A4"/>
          </p15:clr>
        </p15:guide>
        <p15:guide id="12" pos="5640" userDrawn="1">
          <p15:clr>
            <a:srgbClr val="A4A3A4"/>
          </p15:clr>
        </p15:guide>
        <p15:guide id="13" pos="3120">
          <p15:clr>
            <a:srgbClr val="A4A3A4"/>
          </p15:clr>
        </p15:guide>
        <p15:guide id="14" orient="horz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, Safeer [CCC-OT NE]" initials="MS[N" lastIdx="6" clrIdx="0">
    <p:extLst>
      <p:ext uri="{19B8F6BF-5375-455C-9EA6-DF929625EA0E}">
        <p15:presenceInfo xmlns:p15="http://schemas.microsoft.com/office/powerpoint/2012/main" userId="S-1-5-21-1275210071-1604221776-725345543-22566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B00"/>
    <a:srgbClr val="707070"/>
    <a:srgbClr val="A674B6"/>
    <a:srgbClr val="C8D1F1"/>
    <a:srgbClr val="92A2E3"/>
    <a:srgbClr val="5B74D5"/>
    <a:srgbClr val="E2E2E2"/>
    <a:srgbClr val="F5EFF7"/>
    <a:srgbClr val="E1E6F7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1" autoAdjust="0"/>
    <p:restoredTop sz="96292" autoAdjust="0"/>
  </p:normalViewPr>
  <p:slideViewPr>
    <p:cSldViewPr snapToGrid="0" snapToObjects="1">
      <p:cViewPr varScale="1">
        <p:scale>
          <a:sx n="110" d="100"/>
          <a:sy n="110" d="100"/>
        </p:scale>
        <p:origin x="1590" y="114"/>
      </p:cViewPr>
      <p:guideLst>
        <p:guide orient="horz" pos="2472"/>
        <p:guide orient="horz" pos="2352"/>
        <p:guide orient="horz" pos="336"/>
        <p:guide orient="horz" pos="552"/>
        <p:guide orient="horz" pos="3816"/>
        <p:guide orient="horz" pos="2856"/>
        <p:guide orient="horz" pos="1008"/>
        <p:guide orient="horz" pos="408"/>
        <p:guide pos="1344"/>
        <p:guide pos="3312"/>
        <p:guide pos="1296"/>
        <p:guide pos="5640"/>
        <p:guide pos="3120"/>
        <p:guide orient="horz" pos="288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7410"/>
    </p:cViewPr>
  </p:sorterViewPr>
  <p:notesViewPr>
    <p:cSldViewPr snapToGrid="0" snapToObjects="1">
      <p:cViewPr varScale="1">
        <p:scale>
          <a:sx n="67" d="100"/>
          <a:sy n="67" d="100"/>
        </p:scale>
        <p:origin x="3436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t" anchorCtr="0" compatLnSpc="1">
            <a:prstTxWarp prst="textNoShape">
              <a:avLst/>
            </a:prstTxWarp>
          </a:bodyPr>
          <a:lstStyle>
            <a:lvl1pPr algn="l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60687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t" anchorCtr="0" compatLnSpc="1">
            <a:prstTxWarp prst="textNoShape">
              <a:avLst/>
            </a:prstTxWarp>
          </a:bodyPr>
          <a:lstStyle>
            <a:lvl1pPr algn="r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3563"/>
            <a:ext cx="2960688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b" anchorCtr="0" compatLnSpc="1">
            <a:prstTxWarp prst="textNoShape">
              <a:avLst/>
            </a:prstTxWarp>
          </a:bodyPr>
          <a:lstStyle>
            <a:lvl1pPr algn="l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453563"/>
            <a:ext cx="2960687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>
            <a:lvl1pPr algn="l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4" y="0"/>
            <a:ext cx="29495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>
            <a:lvl1pPr algn="r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9300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22813"/>
            <a:ext cx="5451475" cy="447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7213"/>
            <a:ext cx="2949575" cy="49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b" anchorCtr="0" compatLnSpc="1">
            <a:prstTxWarp prst="textNoShape">
              <a:avLst/>
            </a:prstTxWarp>
          </a:bodyPr>
          <a:lstStyle>
            <a:lvl1pPr algn="l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4" y="9447213"/>
            <a:ext cx="2949575" cy="49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b" anchorCtr="0" compatLnSpc="1">
            <a:prstTxWarp prst="textNoShape">
              <a:avLst/>
            </a:prstTxWarp>
          </a:bodyPr>
          <a:lstStyle>
            <a:lvl1pPr algn="r" defTabSz="898525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9816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C428FF-E08F-45DE-BAC9-258D4444EC1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pPr marL="0" marR="0" lvl="0" indent="0" algn="r" defTabSz="89816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ヒラギノ角ゴ Pro W3" pitchFamily="12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571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600200"/>
            <a:ext cx="8458200" cy="3810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533400" y="959822"/>
            <a:ext cx="8458200" cy="461665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6" name="Rectangle 5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7" name="Rectangle 6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70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blipFill dpi="0" rotWithShape="1">
          <a:blip r:embed="rId2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600200"/>
            <a:ext cx="8458200" cy="3810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533400" y="959822"/>
            <a:ext cx="8458200" cy="461665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6" name="Rectangle 5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7" name="Rectangle 6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29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0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0213" y="1295400"/>
            <a:ext cx="2973387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3477418" y="1295400"/>
            <a:ext cx="29718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29718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9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Qua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half" idx="11"/>
          </p:nvPr>
        </p:nvSpPr>
        <p:spPr>
          <a:xfrm>
            <a:off x="5105400" y="38862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half" idx="10"/>
          </p:nvPr>
        </p:nvSpPr>
        <p:spPr>
          <a:xfrm>
            <a:off x="152400" y="38862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2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2"/>
              </a:buClr>
              <a:buSzPct val="80000"/>
              <a:buFont typeface="Arial"/>
              <a:buChar char="▼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2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2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2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2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CB6015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CB6015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CB6015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CB6015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80000"/>
              <a:buFont typeface="Arial"/>
              <a:buChar char="▲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00BDF2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00BDF2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00BDF2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00BDF2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893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4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89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906000" cy="53340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026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1029" name="Title 1"/>
          <p:cNvSpPr>
            <a:spLocks noGrp="1" noChangeArrowheads="1"/>
          </p:cNvSpPr>
          <p:nvPr>
            <p:ph type="title"/>
          </p:nvPr>
        </p:nvSpPr>
        <p:spPr bwMode="gray">
          <a:xfrm>
            <a:off x="152400" y="60325"/>
            <a:ext cx="9598025" cy="377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7" name="Rectangle 6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2" name="Rectangle 11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  <p:sldLayoutId id="2147483661" r:id="rId3"/>
    <p:sldLayoutId id="2147483663" r:id="rId4"/>
    <p:sldLayoutId id="2147483672" r:id="rId5"/>
    <p:sldLayoutId id="2147483673" r:id="rId6"/>
    <p:sldLayoutId id="2147483674" r:id="rId7"/>
    <p:sldLayoutId id="2147483665" r:id="rId8"/>
    <p:sldLayoutId id="2147483677" r:id="rId9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71450" indent="-171450" algn="l" defTabSz="1838325" rtl="0" eaLnBrk="1" fontAlgn="base" hangingPunct="1">
        <a:spcBef>
          <a:spcPct val="7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1pPr>
      <a:lvl2pPr marL="3429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/>
        <a:buChar char="–"/>
        <a:defRPr sz="1400" b="0">
          <a:solidFill>
            <a:srgbClr val="53565A"/>
          </a:solidFill>
          <a:latin typeface="+mn-lt"/>
          <a:ea typeface="+mn-ea"/>
          <a:cs typeface="+mn-cs"/>
        </a:defRPr>
      </a:lvl2pPr>
      <a:lvl3pPr marL="5143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"/>
        <a:defRPr sz="1400" b="0">
          <a:solidFill>
            <a:srgbClr val="53565A"/>
          </a:solidFill>
          <a:latin typeface="+mn-lt"/>
          <a:ea typeface="+mn-ea"/>
          <a:cs typeface="+mn-cs"/>
        </a:defRPr>
      </a:lvl3pPr>
      <a:lvl4pPr marL="6858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○"/>
        <a:defRPr sz="1400" b="0">
          <a:solidFill>
            <a:srgbClr val="53565A"/>
          </a:solidFill>
          <a:latin typeface="+mn-lt"/>
          <a:ea typeface="+mn-ea"/>
          <a:cs typeface="+mn-cs"/>
        </a:defRPr>
      </a:lvl4pPr>
      <a:lvl5pPr marL="8572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5pPr>
      <a:lvl6pPr marL="10287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/>
        <a:buChar char="–"/>
        <a:defRPr sz="1400" b="0">
          <a:solidFill>
            <a:srgbClr val="53565A"/>
          </a:solidFill>
          <a:latin typeface="+mn-lt"/>
          <a:ea typeface="+mn-ea"/>
          <a:cs typeface="+mn-cs"/>
        </a:defRPr>
      </a:lvl6pPr>
      <a:lvl7pPr marL="12001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"/>
        <a:defRPr sz="1400" b="0">
          <a:solidFill>
            <a:srgbClr val="53565A"/>
          </a:solidFill>
          <a:latin typeface="+mn-lt"/>
          <a:ea typeface="+mn-ea"/>
          <a:cs typeface="+mn-cs"/>
        </a:defRPr>
      </a:lvl7pPr>
      <a:lvl8pPr marL="13716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○"/>
        <a:defRPr sz="1400" b="0">
          <a:solidFill>
            <a:srgbClr val="53565A"/>
          </a:solidFill>
          <a:latin typeface="+mn-lt"/>
          <a:ea typeface="+mn-ea"/>
          <a:cs typeface="+mn-cs"/>
        </a:defRPr>
      </a:lvl8pPr>
      <a:lvl9pPr marL="15430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6149" userDrawn="1">
          <p15:clr>
            <a:srgbClr val="F26B43"/>
          </p15:clr>
        </p15:guide>
        <p15:guide id="4" pos="96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4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 txBox="1">
            <a:spLocks noChangeArrowheads="1"/>
          </p:cNvSpPr>
          <p:nvPr/>
        </p:nvSpPr>
        <p:spPr bwMode="gray">
          <a:xfrm>
            <a:off x="457200" y="2885789"/>
            <a:ext cx="729585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1838325" rtl="0" eaLnBrk="1" fontAlgn="base" hangingPunct="1"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defRPr sz="2000" b="0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5pPr>
            <a:lvl6pPr marL="10287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6pPr>
            <a:lvl7pPr marL="12001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7pPr>
            <a:lvl8pPr marL="13716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8pPr>
            <a:lvl9pPr marL="15430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 Light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gray">
          <a:xfrm>
            <a:off x="457199" y="3631549"/>
            <a:ext cx="107026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微軟正黑體"/>
              </a:rPr>
              <a:t>Octo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ber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,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8" name="Rectangle 13"/>
          <p:cNvSpPr txBox="1">
            <a:spLocks noChangeArrowheads="1"/>
          </p:cNvSpPr>
          <p:nvPr/>
        </p:nvSpPr>
        <p:spPr bwMode="gray">
          <a:xfrm>
            <a:off x="457200" y="2376345"/>
            <a:ext cx="5257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1838325" rtl="0" eaLnBrk="1" fontAlgn="base" hangingPunct="1"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defRPr sz="2000" b="0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5pPr>
            <a:lvl6pPr marL="10287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6pPr>
            <a:lvl7pPr marL="12001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7pPr>
            <a:lvl8pPr marL="13716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8pPr>
            <a:lvl9pPr marL="15430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  <a:t>NXP S32K3xx ADC</a:t>
            </a:r>
          </a:p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  <a:t>David Kang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83193"/>
            <a:ext cx="3326884" cy="7700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987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E9847-DD8D-696A-D5BE-2361A2F9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6725"/>
            <a:ext cx="9601200" cy="5096691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ko-KR" b="1" dirty="0"/>
              <a:t>ADC </a:t>
            </a:r>
            <a:r>
              <a:rPr lang="ko-KR" altLang="en-US" b="1" dirty="0"/>
              <a:t>개요 및 주요 사양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아날로그</a:t>
            </a:r>
            <a:r>
              <a:rPr lang="en-US" altLang="ko-KR" b="1" dirty="0"/>
              <a:t>-</a:t>
            </a:r>
            <a:r>
              <a:rPr lang="ko-KR" altLang="en-US" b="1" dirty="0"/>
              <a:t>디지털 변환 목적 및 차량용 응용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en-US" altLang="ko-KR" b="1" dirty="0"/>
              <a:t>SAR ADC</a:t>
            </a:r>
            <a:r>
              <a:rPr lang="ko-KR" altLang="en-US" b="1" dirty="0"/>
              <a:t>의 특징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주요 기본 개념 및 데이터 정렬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특징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ADC </a:t>
            </a:r>
            <a:r>
              <a:rPr lang="ko-KR" altLang="en-US" b="1" dirty="0"/>
              <a:t>동작 원리 및 변환 시간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변환 단계별 동작 흐름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en-US" altLang="ko-KR" b="1" dirty="0"/>
              <a:t>ADC </a:t>
            </a:r>
            <a:r>
              <a:rPr lang="ko-KR" altLang="en-US" b="1" dirty="0"/>
              <a:t>클럭</a:t>
            </a:r>
            <a:r>
              <a:rPr lang="en-US" altLang="ko-KR" b="1" dirty="0"/>
              <a:t>, </a:t>
            </a:r>
            <a:r>
              <a:rPr lang="ko-KR" altLang="en-US" b="1" dirty="0"/>
              <a:t>충전 시간 및 정확도 관계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디지털 코드 </a:t>
            </a:r>
            <a:r>
              <a:rPr lang="en-US" altLang="ko-KR" b="1" dirty="0"/>
              <a:t>&lt;-&gt; </a:t>
            </a:r>
            <a:r>
              <a:rPr lang="ko-KR" altLang="en-US" b="1" dirty="0"/>
              <a:t>입력 전압 </a:t>
            </a:r>
            <a:r>
              <a:rPr lang="ko-KR" altLang="en-US" b="1" dirty="0" err="1"/>
              <a:t>변환식</a:t>
            </a:r>
            <a:r>
              <a:rPr lang="ko-KR" altLang="en-US" b="1" dirty="0"/>
              <a:t> 및 계산 예제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측정 오차와 정확도 개선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en-US" altLang="ko-KR" b="1" dirty="0"/>
              <a:t>Static/DC </a:t>
            </a:r>
            <a:r>
              <a:rPr lang="ko-KR" altLang="en-US" b="1" dirty="0"/>
              <a:t>측정 오차의 정의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정확도 개선을 위한 </a:t>
            </a:r>
            <a:r>
              <a:rPr lang="en-US" altLang="ko-KR" b="1" dirty="0"/>
              <a:t>HW/SW </a:t>
            </a:r>
            <a:r>
              <a:rPr lang="ko-KR" altLang="en-US" b="1" dirty="0"/>
              <a:t>기법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변환 설정</a:t>
            </a:r>
            <a:r>
              <a:rPr lang="en-US" altLang="ko-KR" b="1" dirty="0"/>
              <a:t>, </a:t>
            </a:r>
            <a:r>
              <a:rPr lang="ko-KR" altLang="en-US" b="1" dirty="0"/>
              <a:t>트리거 및 데이터 처리 흐름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변환 모드 및 트리거 구성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en-US" altLang="ko-KR" b="1" dirty="0"/>
              <a:t>TRGMUX</a:t>
            </a:r>
            <a:r>
              <a:rPr lang="ko-KR" altLang="en-US" b="1" dirty="0"/>
              <a:t>와 </a:t>
            </a:r>
            <a:r>
              <a:rPr lang="en-US" altLang="ko-KR" b="1" dirty="0"/>
              <a:t>BCTU </a:t>
            </a:r>
            <a:r>
              <a:rPr lang="ko-KR" altLang="en-US" b="1" dirty="0"/>
              <a:t>라우팅 블록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 err="1"/>
              <a:t>전주기</a:t>
            </a:r>
            <a:r>
              <a:rPr lang="ko-KR" altLang="en-US" b="1" dirty="0"/>
              <a:t> 자동화 파이프라인 및 안전 기능</a:t>
            </a:r>
            <a:endParaRPr lang="en-US" altLang="ko-KR" b="1" dirty="0"/>
          </a:p>
          <a:p>
            <a:pPr marL="514350" lvl="1" indent="-342900">
              <a:buAutoNum type="alphaLcPeriod"/>
            </a:pPr>
            <a:endParaRPr lang="en-US" altLang="ko-KR" b="1" dirty="0"/>
          </a:p>
          <a:p>
            <a:pPr marL="171450" lvl="1" indent="0">
              <a:buNone/>
            </a:pPr>
            <a:endParaRPr lang="en-US" altLang="ko-KR" b="1" dirty="0"/>
          </a:p>
          <a:p>
            <a:pPr marL="171450" lvl="1" indent="0">
              <a:buNone/>
            </a:pPr>
            <a:endParaRPr lang="en-US" altLang="ko-KR" b="1" dirty="0"/>
          </a:p>
          <a:p>
            <a:pPr marL="514350" lvl="1" indent="-342900">
              <a:buAutoNum type="alphaU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F5B39DC-90CE-F5C6-763A-1808F9B4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47814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68496F-1CAE-E595-5DED-D9420CFDF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95987"/>
            <a:ext cx="9601200" cy="34625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아날로그</a:t>
            </a:r>
            <a:r>
              <a:rPr lang="en-US" altLang="ko-KR" b="1" dirty="0"/>
              <a:t>-</a:t>
            </a:r>
            <a:r>
              <a:rPr lang="ko-KR" altLang="en-US" b="1" dirty="0"/>
              <a:t>디지털 변환 목적 및 차량용 응용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변환 목적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연속적인 아날로그 </a:t>
            </a:r>
            <a:r>
              <a:rPr lang="ko-KR" altLang="en-US" b="1" dirty="0" err="1"/>
              <a:t>물리량</a:t>
            </a:r>
            <a:r>
              <a:rPr lang="en-US" altLang="ko-KR" b="1" dirty="0"/>
              <a:t>(</a:t>
            </a:r>
            <a:r>
              <a:rPr lang="ko-KR" altLang="en-US" b="1" dirty="0"/>
              <a:t>전압</a:t>
            </a:r>
            <a:r>
              <a:rPr lang="en-US" altLang="ko-KR" b="1" dirty="0"/>
              <a:t>, </a:t>
            </a:r>
            <a:r>
              <a:rPr lang="ko-KR" altLang="en-US" b="1" dirty="0"/>
              <a:t>전류</a:t>
            </a:r>
            <a:r>
              <a:rPr lang="en-US" altLang="ko-KR" b="1" dirty="0"/>
              <a:t>,</a:t>
            </a:r>
            <a:r>
              <a:rPr lang="ko-KR" altLang="en-US" b="1" dirty="0"/>
              <a:t> 온도</a:t>
            </a:r>
            <a:r>
              <a:rPr lang="en-US" altLang="ko-KR" b="1" dirty="0"/>
              <a:t>)</a:t>
            </a:r>
            <a:r>
              <a:rPr lang="ko-KR" altLang="en-US" b="1" dirty="0"/>
              <a:t>을 이산적인 디지털 코드로 변환하여</a:t>
            </a:r>
            <a:r>
              <a:rPr lang="en-US" altLang="ko-KR" b="1" dirty="0"/>
              <a:t> MCU </a:t>
            </a:r>
            <a:r>
              <a:rPr lang="ko-KR" altLang="en-US" b="1" dirty="0"/>
              <a:t>제어 알고리즘에 사용</a:t>
            </a:r>
            <a:br>
              <a:rPr lang="en-US" altLang="ko-KR" b="1" dirty="0"/>
            </a:b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차량용 대표 응용 분야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배터리 전압 모니터링 </a:t>
            </a:r>
            <a:r>
              <a:rPr lang="en-US" altLang="ko-KR" b="1" dirty="0"/>
              <a:t>: 12V/24V VBAT </a:t>
            </a:r>
            <a:r>
              <a:rPr lang="ko-KR" altLang="en-US" b="1" dirty="0"/>
              <a:t>전압 센싱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차량용 센서 입력 </a:t>
            </a:r>
            <a:r>
              <a:rPr lang="en-US" altLang="ko-KR" b="1" dirty="0"/>
              <a:t>: </a:t>
            </a:r>
            <a:r>
              <a:rPr lang="ko-KR" altLang="en-US" b="1" dirty="0" err="1"/>
              <a:t>스로틀</a:t>
            </a:r>
            <a:r>
              <a:rPr lang="en-US" altLang="ko-KR" b="1" dirty="0"/>
              <a:t>/</a:t>
            </a:r>
            <a:r>
              <a:rPr lang="ko-KR" altLang="en-US" b="1" dirty="0"/>
              <a:t>페달 위치 센서</a:t>
            </a:r>
            <a:r>
              <a:rPr lang="en-US" altLang="ko-KR" b="1" dirty="0"/>
              <a:t>(TPS), </a:t>
            </a:r>
            <a:r>
              <a:rPr lang="ko-KR" altLang="en-US" b="1" dirty="0"/>
              <a:t>냉각수</a:t>
            </a:r>
            <a:r>
              <a:rPr lang="en-US" altLang="ko-KR" b="1" dirty="0"/>
              <a:t>/</a:t>
            </a:r>
            <a:r>
              <a:rPr lang="ko-KR" altLang="en-US" b="1" dirty="0"/>
              <a:t>오일 온도 센서</a:t>
            </a:r>
            <a:r>
              <a:rPr lang="en-US" altLang="ko-KR" b="1" dirty="0"/>
              <a:t>(NTC) </a:t>
            </a:r>
            <a:r>
              <a:rPr lang="ko-KR" altLang="en-US" b="1" dirty="0"/>
              <a:t>신호 취득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모터 제어</a:t>
            </a:r>
            <a:r>
              <a:rPr lang="en-US" altLang="ko-KR" b="1" dirty="0"/>
              <a:t>(Inverter) : PWM</a:t>
            </a:r>
            <a:r>
              <a:rPr lang="ko-KR" altLang="en-US" b="1" dirty="0"/>
              <a:t> 주기에 동기화된 </a:t>
            </a:r>
            <a:r>
              <a:rPr lang="ko-KR" altLang="en-US" b="1" dirty="0" err="1"/>
              <a:t>상전류</a:t>
            </a:r>
            <a:r>
              <a:rPr lang="ko-KR" altLang="en-US" b="1" dirty="0"/>
              <a:t> 피드백 </a:t>
            </a:r>
            <a:r>
              <a:rPr lang="en-US" altLang="ko-KR" b="1" dirty="0"/>
              <a:t>(</a:t>
            </a:r>
            <a:r>
              <a:rPr lang="en-US" altLang="ko-KR" b="1" dirty="0" err="1"/>
              <a:t>eMIOS</a:t>
            </a:r>
            <a:r>
              <a:rPr lang="en-US" altLang="ko-KR" b="1" dirty="0"/>
              <a:t>/BCTU </a:t>
            </a:r>
            <a:r>
              <a:rPr lang="ko-KR" altLang="en-US" b="1" dirty="0"/>
              <a:t>연동 동기 샘플링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입력 허용 범위 </a:t>
            </a:r>
            <a:r>
              <a:rPr lang="en-US" altLang="ko-KR" b="1" dirty="0"/>
              <a:t>vs </a:t>
            </a:r>
            <a:r>
              <a:rPr lang="ko-KR" altLang="en-US" b="1" dirty="0"/>
              <a:t>절대 최대 정격 </a:t>
            </a:r>
            <a:r>
              <a:rPr lang="en-US" altLang="ko-KR" b="1" dirty="0"/>
              <a:t>(Absolute Maximum Rating)</a:t>
            </a:r>
          </a:p>
          <a:p>
            <a:pPr lvl="2">
              <a:buFontTx/>
              <a:buChar char="-"/>
            </a:pPr>
            <a:r>
              <a:rPr lang="ko-KR" altLang="en-US" b="1" dirty="0"/>
              <a:t>동작 허용 입력 범위 </a:t>
            </a:r>
            <a:r>
              <a:rPr lang="en-US" altLang="ko-KR" b="1" dirty="0"/>
              <a:t>: </a:t>
            </a:r>
            <a:r>
              <a:rPr lang="en-US" altLang="ko-KR" b="1" dirty="0" err="1"/>
              <a:t>Vrefl</a:t>
            </a:r>
            <a:r>
              <a:rPr lang="en-US" altLang="ko-KR" b="1" dirty="0"/>
              <a:t> &lt;= Vin &lt;= </a:t>
            </a:r>
            <a:r>
              <a:rPr lang="en-US" altLang="ko-KR" b="1" dirty="0" err="1"/>
              <a:t>Vrefh</a:t>
            </a:r>
            <a:r>
              <a:rPr lang="en-US" altLang="ko-KR" b="1" dirty="0"/>
              <a:t> (</a:t>
            </a:r>
            <a:r>
              <a:rPr lang="ko-KR" altLang="en-US" b="1" dirty="0"/>
              <a:t>일반적으로 </a:t>
            </a:r>
            <a:r>
              <a:rPr lang="en-US" altLang="ko-KR" b="1" dirty="0"/>
              <a:t>0 ~ 3.3V or 5V)</a:t>
            </a:r>
          </a:p>
          <a:p>
            <a:pPr lvl="2">
              <a:buFontTx/>
              <a:buChar char="-"/>
            </a:pPr>
            <a:r>
              <a:rPr lang="ko-KR" altLang="en-US" b="1" dirty="0"/>
              <a:t>절대 최대 정격 </a:t>
            </a:r>
            <a:r>
              <a:rPr lang="en-US" altLang="ko-KR" b="1" dirty="0"/>
              <a:t>: MCU </a:t>
            </a:r>
            <a:r>
              <a:rPr lang="ko-KR" altLang="en-US" b="1" dirty="0"/>
              <a:t>핀 파괴를 방지하는 전기적 한계치 </a:t>
            </a:r>
            <a:r>
              <a:rPr lang="ko-KR" altLang="ko-KR" dirty="0"/>
              <a:t>(예:</a:t>
            </a:r>
            <a:r>
              <a:rPr lang="en-US" altLang="ko-KR" dirty="0"/>
              <a:t> -0.3V ~ </a:t>
            </a:r>
            <a:r>
              <a:rPr lang="en-US" altLang="ko-KR" dirty="0" err="1"/>
              <a:t>Vdd</a:t>
            </a:r>
            <a:r>
              <a:rPr lang="en-US" altLang="ko-KR" dirty="0"/>
              <a:t> + 0.3V</a:t>
            </a:r>
            <a:r>
              <a:rPr lang="ko-KR" altLang="ko-KR" dirty="0"/>
              <a:t>)입니다.</a:t>
            </a:r>
            <a:endParaRPr lang="en-US" altLang="ko-KR" b="1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01C688F-0ABA-51AB-4473-15361114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1. ADC </a:t>
            </a:r>
            <a:r>
              <a:rPr lang="ko-KR" altLang="en-US" b="1" dirty="0"/>
              <a:t>개요 및 주요 사양</a:t>
            </a:r>
          </a:p>
        </p:txBody>
      </p:sp>
    </p:spTree>
    <p:extLst>
      <p:ext uri="{BB962C8B-B14F-4D97-AF65-F5344CB8AC3E}">
        <p14:creationId xmlns:p14="http://schemas.microsoft.com/office/powerpoint/2010/main" val="329698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3CDB-3085-0D4F-1438-215F456A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6CA67B-06B9-D3FF-5AC4-7861C10E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95987"/>
            <a:ext cx="9601200" cy="34625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b. SAR ADC</a:t>
            </a:r>
            <a:r>
              <a:rPr lang="ko-KR" altLang="en-US" b="1" dirty="0"/>
              <a:t>의 특징 </a:t>
            </a:r>
            <a:r>
              <a:rPr lang="en-US" altLang="ko-KR" b="1" dirty="0"/>
              <a:t>(Successive Approximation Register)</a:t>
            </a:r>
          </a:p>
          <a:p>
            <a:pPr lvl="1">
              <a:buFontTx/>
              <a:buChar char="-"/>
            </a:pPr>
            <a:r>
              <a:rPr lang="ko-KR" altLang="en-US" b="1" dirty="0"/>
              <a:t>이분 탐색</a:t>
            </a:r>
            <a:r>
              <a:rPr lang="en-US" altLang="ko-KR" b="1" dirty="0"/>
              <a:t>(Binary Search) </a:t>
            </a:r>
            <a:r>
              <a:rPr lang="ko-KR" altLang="en-US" b="1" dirty="0"/>
              <a:t>알고리즘 </a:t>
            </a:r>
            <a:r>
              <a:rPr lang="en-US" altLang="ko-KR" b="1" dirty="0"/>
              <a:t>: </a:t>
            </a:r>
            <a:r>
              <a:rPr lang="ko-KR" altLang="en-US" b="1" dirty="0"/>
              <a:t>내부 </a:t>
            </a:r>
            <a:r>
              <a:rPr lang="en-US" altLang="ko-KR" b="1" dirty="0"/>
              <a:t>CDAC(Capacitive DAC)</a:t>
            </a:r>
            <a:r>
              <a:rPr lang="ko-KR" altLang="en-US" b="1" dirty="0"/>
              <a:t>와 비교기를 사용해 </a:t>
            </a:r>
            <a:r>
              <a:rPr lang="en-US" altLang="ko-KR" b="1" dirty="0"/>
              <a:t>MSB </a:t>
            </a:r>
            <a:r>
              <a:rPr lang="ko-KR" altLang="en-US" b="1" dirty="0"/>
              <a:t>부터 </a:t>
            </a:r>
            <a:r>
              <a:rPr lang="en-US" altLang="ko-KR" b="1" dirty="0"/>
              <a:t>LSB </a:t>
            </a:r>
            <a:r>
              <a:rPr lang="ko-KR" altLang="en-US" b="1" dirty="0"/>
              <a:t>까지 </a:t>
            </a:r>
            <a:r>
              <a:rPr lang="en-US" altLang="ko-KR" b="1" dirty="0"/>
              <a:t>1bit</a:t>
            </a:r>
            <a:r>
              <a:rPr lang="ko-KR" altLang="en-US" b="1" dirty="0"/>
              <a:t>씩 순차적으로 결정합니다</a:t>
            </a:r>
            <a:r>
              <a:rPr lang="en-US" altLang="ko-KR" b="1" dirty="0"/>
              <a:t>.</a:t>
            </a:r>
          </a:p>
          <a:p>
            <a:pPr lvl="1">
              <a:buFontTx/>
              <a:buChar char="-"/>
            </a:pPr>
            <a:r>
              <a:rPr lang="ko-KR" altLang="en-US" b="1" dirty="0"/>
              <a:t>소형 칩 면적 대비 빠른 변환 속도와 높은 정밀도를 제공하여 자동차 제어기에 최적화 되어 있습니다</a:t>
            </a:r>
            <a:r>
              <a:rPr lang="en-US" altLang="ko-KR" b="1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B0A093-72D7-3887-3151-E864B7A7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1. ADC </a:t>
            </a:r>
            <a:r>
              <a:rPr lang="ko-KR" altLang="en-US" b="1" dirty="0"/>
              <a:t>개요 및 주요 사양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158AE9-4F16-BA16-658A-6D93CBBB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954" y="2608216"/>
            <a:ext cx="5500915" cy="330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1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330A-0321-056C-177B-F86B69F9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8B57F93-00DF-F790-5ADC-9C883310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95987"/>
            <a:ext cx="9601200" cy="34625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주요 기본 개념 및 데이터 정렬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분해능 </a:t>
            </a:r>
            <a:r>
              <a:rPr lang="en-US" altLang="ko-KR" b="1" dirty="0"/>
              <a:t>(N) : </a:t>
            </a:r>
            <a:r>
              <a:rPr lang="ko-KR" altLang="en-US" b="1" dirty="0"/>
              <a:t>아날로그 범위를 나눌 단계 수 </a:t>
            </a:r>
            <a:r>
              <a:rPr lang="en-US" altLang="ko-KR" b="1" dirty="0"/>
              <a:t>(2^N). </a:t>
            </a:r>
            <a:r>
              <a:rPr lang="ko-KR" altLang="en-US" b="1" dirty="0"/>
              <a:t>설정 비트 </a:t>
            </a:r>
            <a:r>
              <a:rPr lang="en-US" altLang="ko-KR" b="1" dirty="0"/>
              <a:t>(RESN) </a:t>
            </a:r>
            <a:r>
              <a:rPr lang="ko-KR" altLang="en-US" b="1" dirty="0"/>
              <a:t>에 따라 </a:t>
            </a:r>
            <a:r>
              <a:rPr lang="en-US" altLang="ko-KR" b="1" dirty="0"/>
              <a:t>14, 12, 10, 8-bit</a:t>
            </a:r>
            <a:r>
              <a:rPr lang="ko-KR" altLang="en-US" b="1" dirty="0"/>
              <a:t>로 설정이 가능합니다</a:t>
            </a:r>
            <a:r>
              <a:rPr lang="en-US" altLang="ko-KR" b="1" dirty="0"/>
              <a:t>.</a:t>
            </a:r>
          </a:p>
          <a:p>
            <a:pPr lvl="1">
              <a:buFontTx/>
              <a:buChar char="-"/>
            </a:pPr>
            <a:r>
              <a:rPr lang="ko-KR" altLang="en-US" b="1" dirty="0"/>
              <a:t>기준전압 </a:t>
            </a:r>
            <a:r>
              <a:rPr lang="en-US" altLang="ko-KR" b="1" dirty="0"/>
              <a:t>(</a:t>
            </a:r>
            <a:r>
              <a:rPr lang="en-US" altLang="ko-KR" b="1" dirty="0" err="1"/>
              <a:t>Vref</a:t>
            </a:r>
            <a:r>
              <a:rPr lang="en-US" altLang="ko-KR" b="1" dirty="0"/>
              <a:t>) : </a:t>
            </a:r>
            <a:r>
              <a:rPr lang="en-US" altLang="ko-KR" b="1" dirty="0" err="1"/>
              <a:t>Vref</a:t>
            </a:r>
            <a:r>
              <a:rPr lang="en-US" altLang="ko-KR" b="1" dirty="0"/>
              <a:t> = </a:t>
            </a:r>
            <a:r>
              <a:rPr lang="en-US" altLang="ko-KR" b="1" dirty="0" err="1"/>
              <a:t>VrefH</a:t>
            </a:r>
            <a:r>
              <a:rPr lang="en-US" altLang="ko-KR" b="1" dirty="0"/>
              <a:t> – </a:t>
            </a:r>
            <a:r>
              <a:rPr lang="en-US" altLang="ko-KR" b="1" dirty="0" err="1"/>
              <a:t>VrefL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LSB(Least Significant Bit) : 1LSB = </a:t>
            </a:r>
            <a:r>
              <a:rPr lang="en-US" altLang="ko-KR" b="1" dirty="0" err="1"/>
              <a:t>Vref</a:t>
            </a:r>
            <a:r>
              <a:rPr lang="en-US" altLang="ko-KR" b="1" dirty="0"/>
              <a:t>/2^N (</a:t>
            </a:r>
            <a:r>
              <a:rPr lang="ko-KR" altLang="en-US" b="1" dirty="0"/>
              <a:t>변환가능한 최소 전압 단위</a:t>
            </a:r>
            <a:r>
              <a:rPr lang="en-US" altLang="ko-KR" b="1" dirty="0"/>
              <a:t>)</a:t>
            </a:r>
          </a:p>
          <a:p>
            <a:pPr lvl="1">
              <a:buFontTx/>
              <a:buChar char="-"/>
            </a:pPr>
            <a:r>
              <a:rPr lang="ko-KR" altLang="en-US" b="1" dirty="0"/>
              <a:t>변환 분해능 </a:t>
            </a:r>
            <a:r>
              <a:rPr lang="en-US" altLang="ko-KR" b="1" dirty="0"/>
              <a:t>vs </a:t>
            </a:r>
            <a:r>
              <a:rPr lang="ko-KR" altLang="en-US" b="1" dirty="0"/>
              <a:t>결과 레지스터 폭</a:t>
            </a:r>
            <a:r>
              <a:rPr lang="en-US" altLang="ko-KR" b="1" dirty="0"/>
              <a:t>/</a:t>
            </a:r>
            <a:r>
              <a:rPr lang="ko-KR" altLang="en-US" b="1" dirty="0"/>
              <a:t>정렬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en-US" altLang="ko-KR" b="1" dirty="0"/>
              <a:t>S32K3xx </a:t>
            </a:r>
            <a:r>
              <a:rPr lang="ko-KR" altLang="en-US" b="1" dirty="0"/>
              <a:t>하드웨어 코어는 </a:t>
            </a:r>
            <a:r>
              <a:rPr lang="en-US" altLang="ko-KR" b="1" dirty="0"/>
              <a:t>15-bit Native Resolution</a:t>
            </a:r>
            <a:r>
              <a:rPr lang="ko-KR" altLang="en-US" b="1" dirty="0"/>
              <a:t>을 갖습니다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en-US" altLang="ko-KR" b="1" dirty="0"/>
              <a:t>RESN </a:t>
            </a:r>
            <a:r>
              <a:rPr lang="ko-KR" altLang="en-US" b="1" dirty="0"/>
              <a:t>비트 설정을 통해 변환 단계를 </a:t>
            </a:r>
            <a:r>
              <a:rPr lang="en-US" altLang="ko-KR" b="1" dirty="0"/>
              <a:t>14, 12, 10, 8-bit</a:t>
            </a:r>
            <a:r>
              <a:rPr lang="ko-KR" altLang="en-US" b="1" dirty="0"/>
              <a:t>로 축소하면 </a:t>
            </a:r>
            <a:r>
              <a:rPr lang="en-US" altLang="ko-KR" b="1" dirty="0"/>
              <a:t>SAR </a:t>
            </a:r>
            <a:r>
              <a:rPr lang="ko-KR" altLang="en-US" b="1" dirty="0"/>
              <a:t>탐색 단계가 줄어들어 변환속도가 향상됩니다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ko-KR" altLang="en-US" b="1" dirty="0"/>
              <a:t>설정한 변환 분해능과 관계없이</a:t>
            </a:r>
            <a:r>
              <a:rPr lang="en-US" altLang="ko-KR" b="1" dirty="0"/>
              <a:t>, </a:t>
            </a:r>
            <a:r>
              <a:rPr lang="ko-KR" altLang="en-US" b="1" dirty="0"/>
              <a:t>결과 데이터는 결과 레지스터</a:t>
            </a:r>
            <a:r>
              <a:rPr lang="en-US" altLang="ko-KR" b="1" dirty="0"/>
              <a:t>(CDATA)</a:t>
            </a:r>
            <a:r>
              <a:rPr lang="ko-KR" altLang="en-US" b="1" dirty="0"/>
              <a:t>에 항상 </a:t>
            </a:r>
            <a:r>
              <a:rPr lang="en-US" altLang="ko-KR" b="1" dirty="0"/>
              <a:t>15-bit </a:t>
            </a:r>
            <a:r>
              <a:rPr lang="ko-KR" altLang="en-US" b="1" dirty="0"/>
              <a:t>데이터 폭으로 저장됩니다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en-US" altLang="ko-KR" b="1" dirty="0"/>
              <a:t>MCR[WLSIDE] </a:t>
            </a:r>
            <a:r>
              <a:rPr lang="ko-KR" altLang="en-US" b="1" dirty="0"/>
              <a:t>설정을 통해 결과 데이터를 우측 정렬 또는 좌측 정렬로 지정할 수 있습니다</a:t>
            </a:r>
            <a:r>
              <a:rPr lang="en-US" altLang="ko-KR" b="1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AB8C4E-6315-5765-AB8C-EB44DC2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1. ADC </a:t>
            </a:r>
            <a:r>
              <a:rPr lang="ko-KR" altLang="en-US" b="1" dirty="0"/>
              <a:t>개요 및 주요 사양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16B59E-6B73-1C6C-C09F-3802A313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3429000"/>
            <a:ext cx="4953000" cy="316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79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C5BD-E641-263C-E430-332B5024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AADADEB-B593-1BF9-29BD-429FBC9F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95987"/>
            <a:ext cx="9601200" cy="1520493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d. </a:t>
            </a:r>
            <a:r>
              <a:rPr lang="ko-KR" altLang="en-US" b="1" dirty="0"/>
              <a:t>특징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15-bit Native SAR ADC </a:t>
            </a:r>
            <a:r>
              <a:rPr lang="ko-KR" altLang="en-US" b="1" dirty="0"/>
              <a:t>구조</a:t>
            </a:r>
            <a:r>
              <a:rPr lang="en-US" altLang="ko-KR" b="1" dirty="0"/>
              <a:t>, 15-bit Register Format</a:t>
            </a:r>
          </a:p>
          <a:p>
            <a:pPr lvl="1">
              <a:buFontTx/>
              <a:buChar char="-"/>
            </a:pPr>
            <a:r>
              <a:rPr lang="en-US" altLang="ko-KR" b="1" dirty="0"/>
              <a:t>BCTU/TRGMUX </a:t>
            </a:r>
            <a:r>
              <a:rPr lang="ko-KR" altLang="en-US" b="1" dirty="0"/>
              <a:t>트리거 인터페이스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Analog Watchdog</a:t>
            </a:r>
          </a:p>
          <a:p>
            <a:pPr lvl="1">
              <a:buFontTx/>
              <a:buChar char="-"/>
            </a:pPr>
            <a:r>
              <a:rPr lang="en-US" altLang="ko-KR" b="1" dirty="0"/>
              <a:t>Self-Test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A731971-4057-5553-A1DF-FE128A96C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1. ADC </a:t>
            </a:r>
            <a:r>
              <a:rPr lang="ko-KR" altLang="en-US" b="1" dirty="0"/>
              <a:t>개요 및 주요 사양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460AC5-CFFF-2F08-ED41-3D52103B1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60" y="2522220"/>
            <a:ext cx="6278880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1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F08A-CB2E-A017-EE36-BC826B76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C16CB4-8959-9F17-DAD7-E375940A1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00193"/>
            <a:ext cx="9601200" cy="3514756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변환 단계별 동작 흐름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입력 선택 </a:t>
            </a:r>
            <a:r>
              <a:rPr lang="en-US" altLang="ko-KR" b="1" dirty="0"/>
              <a:t>(Input Mux)</a:t>
            </a:r>
          </a:p>
          <a:p>
            <a:pPr lvl="2">
              <a:buFontTx/>
              <a:buChar char="-"/>
            </a:pPr>
            <a:r>
              <a:rPr lang="ko-KR" altLang="en-US" b="1" dirty="0"/>
              <a:t>다기능 핀 중 변환 대상 채널을 내부 아날로그 버스에 연결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샘플링 단계 </a:t>
            </a:r>
            <a:r>
              <a:rPr lang="en-US" altLang="ko-KR" b="1" dirty="0"/>
              <a:t>(Sampling Phase)</a:t>
            </a:r>
          </a:p>
          <a:p>
            <a:pPr lvl="2">
              <a:buFontTx/>
              <a:buChar char="-"/>
            </a:pPr>
            <a:r>
              <a:rPr lang="ko-KR" altLang="en-US" b="1" dirty="0"/>
              <a:t>내부</a:t>
            </a:r>
            <a:r>
              <a:rPr lang="en-US" altLang="ko-KR" b="1" dirty="0"/>
              <a:t> </a:t>
            </a:r>
            <a:r>
              <a:rPr lang="ko-KR" altLang="en-US" b="1" dirty="0"/>
              <a:t>샘플링 스위치</a:t>
            </a:r>
            <a:r>
              <a:rPr lang="en-US" altLang="ko-KR" b="1" dirty="0"/>
              <a:t>(</a:t>
            </a:r>
            <a:r>
              <a:rPr lang="en-US" altLang="ko-KR" b="1" dirty="0" err="1"/>
              <a:t>Rsh</a:t>
            </a:r>
            <a:r>
              <a:rPr lang="en-US" altLang="ko-KR" b="1" dirty="0"/>
              <a:t>)</a:t>
            </a:r>
            <a:r>
              <a:rPr lang="ko-KR" altLang="en-US" b="1" dirty="0"/>
              <a:t>가 닫히며 외부 신호가 내부 샘플링 </a:t>
            </a:r>
            <a:r>
              <a:rPr lang="ko-KR" altLang="en-US" b="1" dirty="0" err="1"/>
              <a:t>커패시터</a:t>
            </a:r>
            <a:r>
              <a:rPr lang="en-US" altLang="ko-KR" b="1" dirty="0"/>
              <a:t>(</a:t>
            </a:r>
            <a:r>
              <a:rPr lang="en-US" altLang="ko-KR" b="1" dirty="0" err="1"/>
              <a:t>Csh</a:t>
            </a:r>
            <a:r>
              <a:rPr lang="en-US" altLang="ko-KR" b="1" dirty="0"/>
              <a:t>)</a:t>
            </a:r>
            <a:r>
              <a:rPr lang="ko-KR" altLang="en-US" b="1" dirty="0"/>
              <a:t>에 전하 상태로 충전됩니다</a:t>
            </a:r>
            <a:r>
              <a:rPr lang="en-US" altLang="ko-KR" b="1" dirty="0"/>
              <a:t>.</a:t>
            </a:r>
          </a:p>
          <a:p>
            <a:pPr lvl="1">
              <a:buFontTx/>
              <a:buChar char="-"/>
            </a:pPr>
            <a:r>
              <a:rPr lang="ko-KR" altLang="en-US" b="1" dirty="0"/>
              <a:t>샘플 </a:t>
            </a:r>
            <a:r>
              <a:rPr lang="en-US" altLang="ko-KR" b="1" dirty="0"/>
              <a:t>&amp; </a:t>
            </a:r>
            <a:r>
              <a:rPr lang="ko-KR" altLang="en-US" b="1" dirty="0"/>
              <a:t>홀드 </a:t>
            </a:r>
            <a:r>
              <a:rPr lang="en-US" altLang="ko-KR" b="1" dirty="0"/>
              <a:t>(Sample &amp; Hold)</a:t>
            </a:r>
          </a:p>
          <a:p>
            <a:pPr lvl="2">
              <a:buFontTx/>
              <a:buChar char="-"/>
            </a:pPr>
            <a:r>
              <a:rPr lang="ko-KR" altLang="en-US" b="1" dirty="0"/>
              <a:t>스위치가 열리며 </a:t>
            </a:r>
            <a:r>
              <a:rPr lang="ko-KR" altLang="en-US" b="1" dirty="0" err="1"/>
              <a:t>커패시터</a:t>
            </a:r>
            <a:r>
              <a:rPr lang="ko-KR" altLang="en-US" b="1" dirty="0"/>
              <a:t> 전압 </a:t>
            </a:r>
            <a:r>
              <a:rPr lang="en-US" altLang="ko-KR" b="1" dirty="0" err="1"/>
              <a:t>Vcsh</a:t>
            </a:r>
            <a:r>
              <a:rPr lang="ko-KR" altLang="en-US" b="1" dirty="0"/>
              <a:t>를 고정</a:t>
            </a:r>
            <a:r>
              <a:rPr lang="en-US" altLang="ko-KR" b="1" dirty="0"/>
              <a:t>(Hold) </a:t>
            </a:r>
            <a:r>
              <a:rPr lang="ko-KR" altLang="en-US" b="1" dirty="0"/>
              <a:t>시킵니다</a:t>
            </a:r>
            <a:r>
              <a:rPr lang="en-US" altLang="ko-KR" b="1" dirty="0"/>
              <a:t>.</a:t>
            </a:r>
          </a:p>
          <a:p>
            <a:pPr lvl="1">
              <a:buFontTx/>
              <a:buChar char="-"/>
            </a:pPr>
            <a:r>
              <a:rPr lang="en-US" altLang="ko-KR" b="1" dirty="0"/>
              <a:t>SAR </a:t>
            </a:r>
            <a:r>
              <a:rPr lang="ko-KR" altLang="en-US" b="1" dirty="0"/>
              <a:t>비교 및 비트 결정 </a:t>
            </a:r>
            <a:r>
              <a:rPr lang="en-US" altLang="ko-KR" b="1" dirty="0"/>
              <a:t>(Conversion Phase)</a:t>
            </a:r>
          </a:p>
          <a:p>
            <a:pPr lvl="2">
              <a:buFontTx/>
              <a:buChar char="-"/>
            </a:pPr>
            <a:r>
              <a:rPr lang="en-US" altLang="ko-KR" b="1" dirty="0"/>
              <a:t> </a:t>
            </a:r>
            <a:r>
              <a:rPr lang="ko-KR" altLang="en-US" b="1" dirty="0"/>
              <a:t>비교기</a:t>
            </a:r>
            <a:r>
              <a:rPr lang="en-US" altLang="ko-KR" b="1" dirty="0"/>
              <a:t>(Comparator)</a:t>
            </a:r>
            <a:r>
              <a:rPr lang="ko-KR" altLang="en-US" b="1" dirty="0"/>
              <a:t>가 </a:t>
            </a:r>
            <a:r>
              <a:rPr lang="en-US" altLang="ko-KR" b="1" dirty="0" err="1"/>
              <a:t>Vcsh</a:t>
            </a:r>
            <a:r>
              <a:rPr lang="ko-KR" altLang="en-US" b="1" dirty="0"/>
              <a:t>와 </a:t>
            </a:r>
            <a:r>
              <a:rPr lang="en-US" altLang="ko-KR" b="1" dirty="0"/>
              <a:t>CDAC </a:t>
            </a:r>
            <a:r>
              <a:rPr lang="ko-KR" altLang="en-US" b="1" dirty="0"/>
              <a:t>출력 전압</a:t>
            </a:r>
            <a:r>
              <a:rPr lang="en-US" altLang="ko-KR" b="1" dirty="0"/>
              <a:t>(</a:t>
            </a:r>
            <a:r>
              <a:rPr lang="en-US" altLang="ko-KR" b="1" dirty="0" err="1"/>
              <a:t>Vdac</a:t>
            </a:r>
            <a:r>
              <a:rPr lang="en-US" altLang="ko-KR" b="1" dirty="0"/>
              <a:t>)</a:t>
            </a:r>
            <a:r>
              <a:rPr lang="ko-KR" altLang="en-US" b="1" dirty="0"/>
              <a:t>를 비교합니다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en-US" altLang="ko-KR" b="1" dirty="0"/>
              <a:t>SAR </a:t>
            </a:r>
            <a:r>
              <a:rPr lang="ko-KR" altLang="en-US" b="1" dirty="0"/>
              <a:t>로직이 </a:t>
            </a:r>
            <a:r>
              <a:rPr lang="en-US" altLang="ko-KR" b="1" dirty="0"/>
              <a:t>MSB</a:t>
            </a:r>
            <a:r>
              <a:rPr lang="ko-KR" altLang="en-US" b="1" dirty="0"/>
              <a:t>부터 시작하여 </a:t>
            </a:r>
            <a:r>
              <a:rPr lang="en-US" altLang="ko-KR" b="1" dirty="0"/>
              <a:t>Vin &gt; </a:t>
            </a:r>
            <a:r>
              <a:rPr lang="en-US" altLang="ko-KR" b="1" dirty="0" err="1"/>
              <a:t>Vdac</a:t>
            </a:r>
            <a:r>
              <a:rPr lang="en-US" altLang="ko-KR" b="1" dirty="0"/>
              <a:t> </a:t>
            </a:r>
            <a:r>
              <a:rPr lang="ko-KR" altLang="en-US" b="1" dirty="0"/>
              <a:t>이면 해당 비트를 </a:t>
            </a:r>
            <a:r>
              <a:rPr lang="en-US" altLang="ko-KR" b="1" dirty="0"/>
              <a:t>1</a:t>
            </a:r>
            <a:r>
              <a:rPr lang="ko-KR" altLang="en-US" b="1" dirty="0"/>
              <a:t>로 유지</a:t>
            </a:r>
            <a:r>
              <a:rPr lang="en-US" altLang="ko-KR" b="1" dirty="0"/>
              <a:t>, </a:t>
            </a:r>
            <a:r>
              <a:rPr lang="ko-KR" altLang="en-US" b="1" dirty="0"/>
              <a:t>작으면 </a:t>
            </a:r>
            <a:r>
              <a:rPr lang="en-US" altLang="ko-KR" b="1" dirty="0"/>
              <a:t>0</a:t>
            </a:r>
            <a:r>
              <a:rPr lang="ko-KR" altLang="en-US" b="1" dirty="0"/>
              <a:t>으로 클리어 하며 </a:t>
            </a:r>
            <a:r>
              <a:rPr lang="en-US" altLang="ko-KR" b="1" dirty="0"/>
              <a:t>LSB</a:t>
            </a:r>
            <a:r>
              <a:rPr lang="ko-KR" altLang="en-US" b="1" dirty="0"/>
              <a:t>까지 차례로 확정합니다</a:t>
            </a:r>
            <a:r>
              <a:rPr lang="en-US" altLang="ko-KR" b="1" dirty="0"/>
              <a:t>. (1bit </a:t>
            </a:r>
            <a:r>
              <a:rPr lang="ko-KR" altLang="en-US" b="1" dirty="0"/>
              <a:t>당 </a:t>
            </a:r>
            <a:r>
              <a:rPr lang="en-US" altLang="ko-KR" b="1" dirty="0"/>
              <a:t>4AD_CLK </a:t>
            </a:r>
            <a:r>
              <a:rPr lang="ko-KR" altLang="en-US" b="1" dirty="0"/>
              <a:t>소모</a:t>
            </a:r>
            <a:r>
              <a:rPr lang="en-US" altLang="ko-KR" b="1" dirty="0"/>
              <a:t>)</a:t>
            </a:r>
          </a:p>
          <a:p>
            <a:pPr lvl="1">
              <a:buFontTx/>
              <a:buChar char="-"/>
            </a:pPr>
            <a:r>
              <a:rPr lang="ko-KR" altLang="en-US" b="1" dirty="0"/>
              <a:t>결과 저장 </a:t>
            </a:r>
            <a:r>
              <a:rPr lang="en-US" altLang="ko-KR" b="1" dirty="0"/>
              <a:t>(Result Latch) </a:t>
            </a:r>
          </a:p>
          <a:p>
            <a:pPr lvl="2">
              <a:buFontTx/>
              <a:buChar char="-"/>
            </a:pPr>
            <a:r>
              <a:rPr lang="ko-KR" altLang="en-US" b="1" dirty="0"/>
              <a:t>확정된 </a:t>
            </a:r>
            <a:r>
              <a:rPr lang="en-US" altLang="ko-KR" b="1" dirty="0"/>
              <a:t>15-bit </a:t>
            </a:r>
            <a:r>
              <a:rPr lang="ko-KR" altLang="en-US" b="1" dirty="0"/>
              <a:t>결과 코드가 해당 채널 전용 </a:t>
            </a:r>
            <a:r>
              <a:rPr lang="en-US" altLang="ko-KR" b="1" dirty="0"/>
              <a:t>Data Register(CDAT) </a:t>
            </a:r>
            <a:r>
              <a:rPr lang="ko-KR" altLang="en-US" b="1" dirty="0"/>
              <a:t>에 저장됩니다</a:t>
            </a:r>
            <a:r>
              <a:rPr lang="en-US" altLang="ko-KR" b="1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AD73FA7-9D8C-4976-D64E-048DE87D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2. ADC </a:t>
            </a:r>
            <a:r>
              <a:rPr lang="ko-KR" altLang="en-US" b="1" dirty="0"/>
              <a:t>동작 원리 및 변환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16EC89-521C-9C9F-F0E1-EC336D6E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959"/>
          <a:stretch>
            <a:fillRect/>
          </a:stretch>
        </p:blipFill>
        <p:spPr>
          <a:xfrm>
            <a:off x="401183" y="4413531"/>
            <a:ext cx="4619898" cy="15570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9B6BEF-82FF-6F23-98D4-BC88B8CB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41"/>
          <a:stretch>
            <a:fillRect/>
          </a:stretch>
        </p:blipFill>
        <p:spPr>
          <a:xfrm>
            <a:off x="5024257" y="4779290"/>
            <a:ext cx="4619898" cy="137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9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AE52-D89E-C21A-DF91-0F12ABD7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82FFD53-4695-82FF-D5F9-3083223BAF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00193"/>
                <a:ext cx="9601200" cy="3514756"/>
              </a:xfrm>
            </p:spPr>
            <p:txBody>
              <a:bodyPr/>
              <a:lstStyle/>
              <a:p>
                <a:pPr marL="171450" lvl="1" indent="0">
                  <a:buNone/>
                </a:pPr>
                <a:r>
                  <a:rPr lang="en-US" altLang="ko-KR" b="1" dirty="0"/>
                  <a:t>b. ADC </a:t>
                </a:r>
                <a:r>
                  <a:rPr lang="ko-KR" altLang="en-US" b="1" dirty="0"/>
                  <a:t>클럭</a:t>
                </a:r>
                <a:r>
                  <a:rPr lang="en-US" altLang="ko-KR" b="1" dirty="0"/>
                  <a:t>, </a:t>
                </a:r>
                <a:r>
                  <a:rPr lang="ko-KR" altLang="en-US" b="1" dirty="0"/>
                  <a:t>충전 시간 및 정확도 관계</a:t>
                </a:r>
                <a:endParaRPr lang="en-US" altLang="ko-KR" b="1" dirty="0"/>
              </a:p>
              <a:p>
                <a:pPr lvl="1">
                  <a:buFontTx/>
                  <a:buChar char="-"/>
                </a:pPr>
                <a:r>
                  <a:rPr lang="ko-KR" altLang="en-US" b="1" dirty="0"/>
                  <a:t>변환 시간 </a:t>
                </a:r>
                <a:r>
                  <a:rPr lang="ko-KR" altLang="en-US" b="1" dirty="0" err="1"/>
                  <a:t>산출식</a:t>
                </a:r>
                <a:endParaRPr lang="en-US" altLang="ko-KR" b="1" dirty="0"/>
              </a:p>
              <a:p>
                <a:pPr lvl="2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b="1" i="0" dirty="0" smtClean="0">
                        <a:latin typeface="Cambria Math" panose="02040503050406030204" pitchFamily="18" charset="0"/>
                      </a:rPr>
                      <m:t>Total Conversion Time</m:t>
                    </m:r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𝑃𝑆𝑇</m:t>
                            </m:r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𝑆𝑇</m:t>
                            </m:r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𝐶𝑇</m:t>
                            </m:r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𝐷𝑃</m:t>
                            </m:r>
                          </m:e>
                        </m:d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Chain Length</m:t>
                        </m:r>
                      </m:e>
                    </m:d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𝑇𝑃𝑇</m:t>
                    </m:r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in AD_CLK cycles</m:t>
                        </m:r>
                      </m:e>
                    </m:d>
                  </m:oMath>
                </a14:m>
                <a:endParaRPr lang="en-US" altLang="ko-KR" b="1" dirty="0"/>
              </a:p>
              <a:p>
                <a:pPr lvl="2">
                  <a:buFontTx/>
                  <a:buChar char="-"/>
                </a:pPr>
                <a:r>
                  <a:rPr lang="ko-KR" altLang="ko-KR" sz="1000" dirty="0"/>
                  <a:t>(PST: </a:t>
                </a:r>
                <a:r>
                  <a:rPr lang="ko-KR" altLang="ko-KR" sz="1000" dirty="0" err="1"/>
                  <a:t>Pre-Sample</a:t>
                </a:r>
                <a:r>
                  <a:rPr lang="ko-KR" altLang="ko-KR" sz="1000" dirty="0"/>
                  <a:t>, ST: </a:t>
                </a:r>
                <a:r>
                  <a:rPr lang="ko-KR" altLang="ko-KR" sz="1000" dirty="0" err="1"/>
                  <a:t>Sample</a:t>
                </a:r>
                <a:r>
                  <a:rPr lang="ko-KR" altLang="ko-KR" sz="1000" dirty="0"/>
                  <a:t> Time(기본 22주기), CT: </a:t>
                </a:r>
                <a:r>
                  <a:rPr lang="ko-KR" altLang="ko-KR" sz="1000" dirty="0" err="1"/>
                  <a:t>Compare</a:t>
                </a:r>
                <a:r>
                  <a:rPr lang="ko-KR" altLang="ko-KR" sz="1000" dirty="0"/>
                  <a:t> Time(비트당 4주기), DP: Data Processing(2주기), TPT: </a:t>
                </a:r>
                <a:r>
                  <a:rPr lang="ko-KR" altLang="ko-KR" sz="1000" dirty="0" err="1"/>
                  <a:t>Trigger</a:t>
                </a:r>
                <a:r>
                  <a:rPr lang="ko-KR" altLang="ko-KR" sz="1000" dirty="0"/>
                  <a:t> Processing(2주기))</a:t>
                </a:r>
                <a:endParaRPr lang="en-US" altLang="ko-KR" sz="1000" b="1" dirty="0"/>
              </a:p>
              <a:p>
                <a:pPr lvl="1">
                  <a:buFontTx/>
                  <a:buChar char="-"/>
                </a:pPr>
                <a:r>
                  <a:rPr lang="ko-KR" altLang="en-US" b="1" dirty="0"/>
                  <a:t>입력 소스 저항</a:t>
                </a:r>
                <a:r>
                  <a:rPr lang="en-US" altLang="ko-KR" b="1" dirty="0"/>
                  <a:t>(Rs)</a:t>
                </a:r>
                <a:r>
                  <a:rPr lang="ko-KR" altLang="en-US" b="1" dirty="0"/>
                  <a:t>과 샘플링 </a:t>
                </a:r>
                <a:r>
                  <a:rPr lang="ko-KR" altLang="en-US" b="1" dirty="0" err="1"/>
                  <a:t>커패시터</a:t>
                </a:r>
                <a:r>
                  <a:rPr lang="en-US" altLang="ko-KR" b="1" dirty="0"/>
                  <a:t>(</a:t>
                </a:r>
                <a:r>
                  <a:rPr lang="en-US" altLang="ko-KR" b="1" dirty="0" err="1"/>
                  <a:t>Csh</a:t>
                </a:r>
                <a:r>
                  <a:rPr lang="en-US" altLang="ko-KR" b="1" dirty="0"/>
                  <a:t>)</a:t>
                </a:r>
                <a:r>
                  <a:rPr lang="ko-KR" altLang="en-US" b="1" dirty="0"/>
                  <a:t>의 충전 관계</a:t>
                </a:r>
                <a:endParaRPr lang="en-US" altLang="ko-KR" b="1" dirty="0"/>
              </a:p>
              <a:p>
                <a:pPr lvl="2">
                  <a:buFontTx/>
                  <a:buChar char="-"/>
                </a:pPr>
                <a:r>
                  <a:rPr lang="en-US" altLang="ko-KR" b="1" dirty="0"/>
                  <a:t>RC </a:t>
                </a:r>
                <a:r>
                  <a:rPr lang="ko-KR" altLang="en-US" b="1" dirty="0" err="1"/>
                  <a:t>시상수</a:t>
                </a:r>
                <a:r>
                  <a:rPr lang="ko-KR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1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𝑠ℎ</m:t>
                            </m:r>
                          </m:sub>
                        </m:sSub>
                      </m:e>
                    </m:d>
                    <m:r>
                      <a:rPr lang="en-US" altLang="ko-KR" b="1" i="0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𝑠ℎ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lvl="2">
                  <a:buFontTx/>
                  <a:buChar char="-"/>
                </a:pPr>
                <a:r>
                  <a:rPr lang="ko-KR" altLang="en-US" b="1" dirty="0"/>
                  <a:t>외부 소스 저항 </a:t>
                </a:r>
                <a:r>
                  <a:rPr lang="en-US" altLang="ko-KR" b="1" dirty="0"/>
                  <a:t>Rs</a:t>
                </a:r>
                <a:r>
                  <a:rPr lang="ko-KR" altLang="en-US" b="1" dirty="0"/>
                  <a:t>가 클수록 </a:t>
                </a:r>
                <a:r>
                  <a:rPr lang="en-US" altLang="ko-KR" b="1" dirty="0" err="1"/>
                  <a:t>Csh</a:t>
                </a:r>
                <a:r>
                  <a:rPr lang="ko-KR" altLang="en-US" b="1" dirty="0"/>
                  <a:t>의 전하 충전 시간이 늘어납니다</a:t>
                </a:r>
                <a:r>
                  <a:rPr lang="en-US" altLang="ko-KR" b="1" dirty="0"/>
                  <a:t>. </a:t>
                </a:r>
                <a:r>
                  <a:rPr lang="ko-KR" altLang="en-US" b="1" dirty="0"/>
                  <a:t>설정된 샘플링 시간</a:t>
                </a:r>
                <a:r>
                  <a:rPr lang="en-US" altLang="ko-KR" b="1" dirty="0"/>
                  <a:t>(ST)</a:t>
                </a:r>
                <a:r>
                  <a:rPr lang="ko-KR" altLang="en-US" b="1" dirty="0"/>
                  <a:t>이 충전완료 시간보다 짧으면 실제 전압보다 다르게 측정되는 오차가 발생합니다</a:t>
                </a:r>
                <a:r>
                  <a:rPr lang="en-US" altLang="ko-KR" b="1" dirty="0"/>
                  <a:t>.</a:t>
                </a:r>
              </a:p>
              <a:p>
                <a:pPr lvl="2">
                  <a:buFontTx/>
                  <a:buChar char="-"/>
                </a:pPr>
                <a:r>
                  <a:rPr lang="ko-KR" altLang="en-US" b="1" dirty="0"/>
                  <a:t>속도 </a:t>
                </a:r>
                <a:r>
                  <a:rPr lang="en-US" altLang="ko-KR" b="1" dirty="0"/>
                  <a:t>vs </a:t>
                </a:r>
                <a:r>
                  <a:rPr lang="ko-KR" altLang="en-US" b="1" dirty="0"/>
                  <a:t>정확도 </a:t>
                </a:r>
                <a:r>
                  <a:rPr lang="en-US" altLang="ko-KR" b="1" dirty="0"/>
                  <a:t>Trade-off : ADC </a:t>
                </a:r>
                <a:r>
                  <a:rPr lang="ko-KR" altLang="en-US" b="1" dirty="0"/>
                  <a:t>클럭</a:t>
                </a:r>
                <a:r>
                  <a:rPr lang="en-US" altLang="ko-KR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1" i="1" dirty="0" err="1" smtClean="0">
                            <a:latin typeface="Cambria Math" panose="02040503050406030204" pitchFamily="18" charset="0"/>
                          </a:rPr>
                          <m:t>𝐴𝐷𝐶𝐾</m:t>
                        </m:r>
                      </m:sub>
                    </m:sSub>
                  </m:oMath>
                </a14:m>
                <a:r>
                  <a:rPr lang="en-US" altLang="ko-KR" b="1" dirty="0"/>
                  <a:t>)</a:t>
                </a:r>
                <a:r>
                  <a:rPr lang="ko-KR" altLang="en-US" b="1" dirty="0"/>
                  <a:t>을 허용치 이상으로 올리거나 샘플링 시간을 과도하게 줄이면</a:t>
                </a:r>
                <a:r>
                  <a:rPr lang="en-US" altLang="ko-KR" b="1" dirty="0"/>
                  <a:t>, </a:t>
                </a:r>
                <a:r>
                  <a:rPr lang="ko-KR" altLang="en-US" b="1" dirty="0"/>
                  <a:t>내부 회로의 정착</a:t>
                </a:r>
                <a:r>
                  <a:rPr lang="en-US" altLang="ko-KR" b="1" dirty="0"/>
                  <a:t>·</a:t>
                </a:r>
                <a:r>
                  <a:rPr lang="ko-KR" altLang="en-US" b="1" dirty="0"/>
                  <a:t>변환 시간이 부족해 측정 오차가 증가하고 정확도가 저하될 수 있습니다</a:t>
                </a:r>
                <a:r>
                  <a:rPr lang="en-US" altLang="ko-KR" b="1" dirty="0"/>
                  <a:t>.</a:t>
                </a: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482FFD53-4695-82FF-D5F9-3083223BA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00193"/>
                <a:ext cx="9601200" cy="3514756"/>
              </a:xfrm>
              <a:blipFill>
                <a:blip r:embed="rId2"/>
                <a:stretch>
                  <a:fillRect t="-17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615165F1-7746-6E71-3BFF-A35D4FAC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2. ADC </a:t>
            </a:r>
            <a:r>
              <a:rPr lang="ko-KR" altLang="en-US" b="1" dirty="0"/>
              <a:t>동작 원리 및 변환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F3B1DB-3688-7FAA-5D73-545616249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12" y="3428999"/>
            <a:ext cx="4953000" cy="304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0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E90D-0D35-4D3A-AA2A-62FB1712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5A798B3-3BCD-D0E5-9342-F5F13DBC8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00193"/>
                <a:ext cx="9601200" cy="3514756"/>
              </a:xfrm>
            </p:spPr>
            <p:txBody>
              <a:bodyPr/>
              <a:lstStyle/>
              <a:p>
                <a:pPr marL="171450" lvl="1" indent="0">
                  <a:buNone/>
                </a:pPr>
                <a:r>
                  <a:rPr lang="en-US" altLang="ko-KR" b="1" dirty="0"/>
                  <a:t>c. </a:t>
                </a:r>
                <a:r>
                  <a:rPr lang="ko-KR" altLang="en-US" b="1" dirty="0"/>
                  <a:t>디지털 코드 </a:t>
                </a:r>
                <a:r>
                  <a:rPr lang="en-US" altLang="ko-KR" b="1" dirty="0"/>
                  <a:t>&lt;-&gt; </a:t>
                </a:r>
                <a:r>
                  <a:rPr lang="ko-KR" altLang="en-US" b="1" dirty="0"/>
                  <a:t>입력 전압 </a:t>
                </a:r>
                <a:r>
                  <a:rPr lang="ko-KR" altLang="en-US" b="1" dirty="0" err="1"/>
                  <a:t>변환식</a:t>
                </a:r>
                <a:r>
                  <a:rPr lang="ko-KR" altLang="en-US" b="1" dirty="0"/>
                  <a:t> 및 계산 예제</a:t>
                </a:r>
                <a:endParaRPr lang="en-US" altLang="ko-KR" b="1" dirty="0"/>
              </a:p>
              <a:p>
                <a:pPr lvl="1">
                  <a:buFontTx/>
                  <a:buChar char="-"/>
                </a:pPr>
                <a:r>
                  <a:rPr lang="ko-KR" altLang="en-US" b="1" dirty="0"/>
                  <a:t>이상적 변환 기본 식 </a:t>
                </a:r>
                <a:r>
                  <a:rPr lang="en-US" altLang="ko-KR" b="1" dirty="0"/>
                  <a:t>(Ideal Transfer Function)</a:t>
                </a:r>
                <a:endParaRPr lang="en-US" altLang="ko-KR" b="1" i="0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b="1" i="0" dirty="0" smtClean="0">
                        <a:latin typeface="Cambria Math" panose="02040503050406030204" pitchFamily="18" charset="0"/>
                      </a:rPr>
                      <m:t>ADC result</m:t>
                    </m:r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sub>
                        </m:sSub>
                      </m:den>
                    </m:f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 ⟺ </m:t>
                    </m:r>
                    <m:sSub>
                      <m:sSubPr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ADC result</m:t>
                        </m:r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𝑅𝐸𝐹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1" i="0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b="1" dirty="0"/>
              </a:p>
              <a:p>
                <a:pPr lvl="1">
                  <a:buFontTx/>
                  <a:buChar char="-"/>
                </a:pPr>
                <a:r>
                  <a:rPr lang="ko-KR" altLang="en-US" b="1" dirty="0"/>
                  <a:t>이상적 변환 기본 식 </a:t>
                </a:r>
                <a:r>
                  <a:rPr lang="en-US" altLang="ko-KR" b="1" dirty="0"/>
                  <a:t>(Ideal Transfer Function)</a:t>
                </a:r>
              </a:p>
              <a:p>
                <a:pPr lvl="2">
                  <a:buFontTx/>
                  <a:buChar char="-"/>
                </a:pPr>
                <a:r>
                  <a:rPr lang="ko-KR" altLang="en-US" b="1" dirty="0"/>
                  <a:t>조건 </a:t>
                </a:r>
                <a:r>
                  <a:rPr lang="en-US" altLang="ko-KR" b="1" dirty="0"/>
                  <a:t>: </a:t>
                </a:r>
                <a:r>
                  <a:rPr lang="en-US" altLang="ko-KR" b="1" dirty="0" err="1"/>
                  <a:t>VrefH</a:t>
                </a:r>
                <a:r>
                  <a:rPr lang="en-US" altLang="ko-KR" b="1" dirty="0"/>
                  <a:t> = 5.0V , </a:t>
                </a:r>
                <a:r>
                  <a:rPr lang="en-US" altLang="ko-KR" b="1" dirty="0" err="1"/>
                  <a:t>VrefL</a:t>
                </a:r>
                <a:r>
                  <a:rPr lang="en-US" altLang="ko-KR" b="1" dirty="0"/>
                  <a:t> = 0V(</a:t>
                </a:r>
                <a:r>
                  <a:rPr lang="en-US" altLang="ko-KR" b="1" dirty="0" err="1"/>
                  <a:t>Vref</a:t>
                </a:r>
                <a:r>
                  <a:rPr lang="en-US" altLang="ko-KR" b="1" dirty="0"/>
                  <a:t> = 5.0V) , </a:t>
                </a:r>
                <a:r>
                  <a:rPr lang="ko-KR" altLang="en-US" b="1" dirty="0"/>
                  <a:t>설정 분해능 </a:t>
                </a:r>
                <a:r>
                  <a:rPr lang="en-US" altLang="ko-KR" b="1" dirty="0"/>
                  <a:t>N = 12-bit (2^12 = 4096) </a:t>
                </a:r>
              </a:p>
              <a:p>
                <a:pPr lvl="2">
                  <a:buFontTx/>
                  <a:buChar char="-"/>
                </a:pPr>
                <a:r>
                  <a:rPr lang="ko-KR" altLang="en-US" b="1" dirty="0"/>
                  <a:t>결과 읽기 </a:t>
                </a:r>
                <a:r>
                  <a:rPr lang="en-US" altLang="ko-KR" b="1" dirty="0"/>
                  <a:t>: </a:t>
                </a:r>
                <a:r>
                  <a:rPr lang="ko-KR" altLang="en-US" b="1" dirty="0"/>
                  <a:t>레지스터에서 읽은 값이 </a:t>
                </a:r>
                <a:r>
                  <a:rPr lang="en-US" altLang="ko-KR" b="1" dirty="0"/>
                  <a:t>2048 </a:t>
                </a:r>
                <a:r>
                  <a:rPr lang="ko-KR" altLang="en-US" b="1" dirty="0"/>
                  <a:t>인 경우</a:t>
                </a:r>
                <a:endParaRPr lang="en-US" altLang="ko-KR" b="1" dirty="0"/>
              </a:p>
              <a:p>
                <a:pPr lvl="3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2048×5.0</m:t>
                        </m:r>
                        <m:r>
                          <m:rPr>
                            <m:nor/>
                          </m:r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num>
                      <m:den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a:rPr lang="en-US" altLang="ko-KR" b="1" i="0" dirty="0" smtClean="0">
                        <a:latin typeface="Cambria Math" panose="02040503050406030204" pitchFamily="18" charset="0"/>
                      </a:rPr>
                      <m:t>=2.500</m:t>
                    </m:r>
                    <m:r>
                      <m:rPr>
                        <m:nor/>
                      </m:rPr>
                      <a:rPr lang="en-US" altLang="ko-KR" b="1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altLang="ko-KR" b="1" dirty="0"/>
              </a:p>
              <a:p>
                <a:pPr lvl="2">
                  <a:buFontTx/>
                  <a:buChar char="-"/>
                </a:pPr>
                <a:r>
                  <a:rPr lang="ko-KR" altLang="en-US" b="1" dirty="0"/>
                  <a:t>참고 </a:t>
                </a:r>
                <a:r>
                  <a:rPr lang="en-US" altLang="ko-KR" b="1" dirty="0"/>
                  <a:t>(15-bit Native </a:t>
                </a:r>
                <a:r>
                  <a:rPr lang="ko-KR" altLang="en-US" b="1" dirty="0"/>
                  <a:t>포맷 주의</a:t>
                </a:r>
                <a:r>
                  <a:rPr lang="en-US" altLang="ko-KR" b="1" dirty="0"/>
                  <a:t>): WLSIDE=0 (Right-aligned) </a:t>
                </a:r>
                <a:r>
                  <a:rPr lang="ko-KR" altLang="en-US" b="1" dirty="0"/>
                  <a:t>모드에서 전압 환산 시 읽은 결과의 코드 스케일을 확인해야 합니다</a:t>
                </a:r>
                <a:r>
                  <a:rPr lang="en-US" altLang="ko-KR" b="1" dirty="0"/>
                  <a:t>. 12-bit</a:t>
                </a:r>
                <a:r>
                  <a:rPr lang="ko-KR" altLang="en-US" b="1" dirty="0"/>
                  <a:t>로 </a:t>
                </a:r>
                <a:r>
                  <a:rPr lang="ko-KR" altLang="en-US" b="1" dirty="0" err="1"/>
                  <a:t>정규화된</a:t>
                </a:r>
                <a:r>
                  <a:rPr lang="ko-KR" altLang="en-US" b="1" dirty="0"/>
                  <a:t> 값에는 </a:t>
                </a:r>
                <a:r>
                  <a:rPr lang="en-US" altLang="ko-KR" b="1" dirty="0"/>
                  <a:t>4096</a:t>
                </a:r>
                <a:r>
                  <a:rPr lang="ko-KR" altLang="en-US" b="1" dirty="0"/>
                  <a:t>을</a:t>
                </a:r>
                <a:r>
                  <a:rPr lang="en-US" altLang="ko-KR" b="1" dirty="0"/>
                  <a:t>, 15-bit </a:t>
                </a:r>
                <a:r>
                  <a:rPr lang="ko-KR" altLang="en-US" b="1" dirty="0"/>
                  <a:t>스케일의 값에는 </a:t>
                </a:r>
                <a:r>
                  <a:rPr lang="en-US" altLang="ko-KR" b="1" dirty="0"/>
                  <a:t>32768</a:t>
                </a:r>
                <a:r>
                  <a:rPr lang="ko-KR" altLang="en-US" b="1" dirty="0"/>
                  <a:t>을 분모로 사용합니다</a:t>
                </a:r>
                <a:r>
                  <a:rPr lang="en-US" altLang="ko-KR" b="1" dirty="0"/>
                  <a:t>.</a:t>
                </a:r>
                <a:endParaRPr lang="en-US" altLang="ko-KR" sz="1000" b="1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55A798B3-3BCD-D0E5-9342-F5F13DBC8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00193"/>
                <a:ext cx="9601200" cy="3514756"/>
              </a:xfrm>
              <a:blipFill>
                <a:blip r:embed="rId2"/>
                <a:stretch>
                  <a:fillRect t="-17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3E1B53B-296D-7154-4971-9AE95E5B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2. ADC </a:t>
            </a:r>
            <a:r>
              <a:rPr lang="ko-KR" altLang="en-US" b="1" dirty="0"/>
              <a:t>동작 원리 및 변환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A3A9C4-0762-F0C4-EB00-38771EEC9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41" y="3429000"/>
            <a:ext cx="5302342" cy="298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55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EF7E-807C-80B9-5757-F0A4CF672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2F1D5E8-9C8C-B613-972D-7E1F2E068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00192"/>
            <a:ext cx="9601200" cy="4995213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ko-KR" b="1" dirty="0" err="1"/>
              <a:t>static</a:t>
            </a:r>
            <a:r>
              <a:rPr lang="ko-KR" altLang="ko-KR" b="1" dirty="0"/>
              <a:t>/DC 측정 오차의 정의</a:t>
            </a:r>
            <a:r>
              <a:rPr lang="en-US" altLang="ko-KR" b="1" dirty="0"/>
              <a:t> - 1</a:t>
            </a:r>
          </a:p>
          <a:p>
            <a:pPr lvl="1">
              <a:buFontTx/>
              <a:buChar char="-"/>
            </a:pPr>
            <a:r>
              <a:rPr lang="ko-KR" altLang="en-US" b="1" i="0" dirty="0">
                <a:latin typeface="Cambria Math" panose="02040503050406030204" pitchFamily="18" charset="0"/>
              </a:rPr>
              <a:t>양자화 오차 </a:t>
            </a:r>
            <a:r>
              <a:rPr lang="en-US" altLang="ko-KR" b="1" i="0" dirty="0">
                <a:latin typeface="Cambria Math" panose="02040503050406030204" pitchFamily="18" charset="0"/>
              </a:rPr>
              <a:t>(Quantization Error) </a:t>
            </a: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연속 아날로그 신호를 이산 코드로 변환할 때 발생하는 본질적 오차 </a:t>
            </a:r>
            <a:r>
              <a:rPr lang="en-US" altLang="ko-KR" b="1" dirty="0">
                <a:latin typeface="Cambria Math" panose="02040503050406030204" pitchFamily="18" charset="0"/>
              </a:rPr>
              <a:t>(+-0.5 LSB)</a:t>
            </a:r>
          </a:p>
          <a:p>
            <a:pPr lvl="1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Offset Error </a:t>
            </a:r>
          </a:p>
          <a:p>
            <a:pPr lvl="2">
              <a:buFontTx/>
              <a:buChar char="-"/>
            </a:pPr>
            <a:r>
              <a:rPr lang="ko-KR" altLang="en-US" b="1" i="0" dirty="0">
                <a:latin typeface="Cambria Math" panose="02040503050406030204" pitchFamily="18" charset="0"/>
              </a:rPr>
              <a:t>첫 번째 이상적 코드 전환점</a:t>
            </a:r>
            <a:r>
              <a:rPr lang="en-US" altLang="ko-KR" b="1" i="0" dirty="0">
                <a:latin typeface="Cambria Math" panose="02040503050406030204" pitchFamily="18" charset="0"/>
              </a:rPr>
              <a:t>(0.5LSB)</a:t>
            </a:r>
            <a:r>
              <a:rPr lang="ko-KR" altLang="en-US" b="1" i="0" dirty="0">
                <a:latin typeface="Cambria Math" panose="02040503050406030204" pitchFamily="18" charset="0"/>
              </a:rPr>
              <a:t>과 실제 전환점 간의 편차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Gain Error</a:t>
            </a:r>
          </a:p>
          <a:p>
            <a:pPr lvl="2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Offset </a:t>
            </a:r>
            <a:r>
              <a:rPr lang="ko-KR" altLang="en-US" b="1" i="0" dirty="0">
                <a:latin typeface="Cambria Math" panose="02040503050406030204" pitchFamily="18" charset="0"/>
              </a:rPr>
              <a:t>보정 후</a:t>
            </a:r>
            <a:r>
              <a:rPr lang="en-US" altLang="ko-KR" b="1" i="0" dirty="0">
                <a:latin typeface="Cambria Math" panose="02040503050406030204" pitchFamily="18" charset="0"/>
              </a:rPr>
              <a:t>, </a:t>
            </a:r>
            <a:r>
              <a:rPr lang="ko-KR" altLang="en-US" b="1" i="0" dirty="0">
                <a:latin typeface="Cambria Math" panose="02040503050406030204" pitchFamily="18" charset="0"/>
              </a:rPr>
              <a:t>마지막 코드 전환점 기울기의 편차</a:t>
            </a:r>
          </a:p>
          <a:p>
            <a:pPr marL="171450" lvl="1" indent="0">
              <a:buNone/>
            </a:pPr>
            <a:endParaRPr lang="en-US" altLang="ko-KR" b="1" i="0" dirty="0">
              <a:latin typeface="Cambria Math" panose="020405030504060302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856337B-ECB5-B271-C38C-0D76AE98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측정 오차와 정확도 개선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4300FE-4FEC-F3EF-CA65-FB0A633C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21" y="2873843"/>
            <a:ext cx="6216742" cy="343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8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4286-AC1C-B900-483F-B4D2CF80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10686E-30AC-2A7B-E0FA-E7C04794E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1" y="711926"/>
            <a:ext cx="9601199" cy="2880018"/>
          </a:xfrm>
        </p:spPr>
        <p:txBody>
          <a:bodyPr wrap="square">
            <a:normAutofit/>
          </a:bodyPr>
          <a:lstStyle/>
          <a:p>
            <a:pPr marL="171450" lvl="1" indent="0">
              <a:buNone/>
            </a:pPr>
            <a:r>
              <a:rPr lang="en-US" altLang="ko-KR" sz="1200" b="1" dirty="0"/>
              <a:t>a. </a:t>
            </a:r>
            <a:r>
              <a:rPr lang="ko-KR" altLang="ko-KR" sz="1200" b="1" dirty="0" err="1"/>
              <a:t>static</a:t>
            </a:r>
            <a:r>
              <a:rPr lang="ko-KR" altLang="ko-KR" sz="1200" b="1" dirty="0"/>
              <a:t>/DC 측정 오차의 정의</a:t>
            </a:r>
            <a:r>
              <a:rPr lang="en-US" altLang="ko-KR" sz="1200" b="1" dirty="0"/>
              <a:t> - 2</a:t>
            </a:r>
          </a:p>
          <a:p>
            <a:pPr lvl="1">
              <a:buFontTx/>
              <a:buChar char="-"/>
            </a:pPr>
            <a:r>
              <a:rPr lang="en-US" altLang="ko-KR" sz="1200" b="1" i="0" dirty="0"/>
              <a:t>DNL</a:t>
            </a:r>
            <a:r>
              <a:rPr lang="ko-KR" altLang="en-US" sz="1200" b="1" i="0" dirty="0"/>
              <a:t> </a:t>
            </a:r>
            <a:r>
              <a:rPr lang="en-US" altLang="ko-KR" sz="1200" b="1" i="0" dirty="0"/>
              <a:t>(Differential</a:t>
            </a:r>
            <a:r>
              <a:rPr lang="ko-KR" altLang="en-US" sz="1200" b="1" i="0" dirty="0"/>
              <a:t> </a:t>
            </a:r>
            <a:r>
              <a:rPr lang="en-US" altLang="ko-KR" sz="1200" b="1" i="0" dirty="0"/>
              <a:t>Non-Linearity)</a:t>
            </a:r>
          </a:p>
          <a:p>
            <a:pPr lvl="2">
              <a:buFontTx/>
              <a:buChar char="-"/>
            </a:pPr>
            <a:r>
              <a:rPr lang="ko-KR" altLang="en-US" sz="1200" b="1" dirty="0"/>
              <a:t>실제 코드 폭과 이상적인 </a:t>
            </a:r>
            <a:r>
              <a:rPr lang="en-US" altLang="ko-KR" sz="1200" b="1" dirty="0"/>
              <a:t>1LSB </a:t>
            </a:r>
            <a:r>
              <a:rPr lang="ko-KR" altLang="en-US" sz="1200" b="1" dirty="0"/>
              <a:t>폭과의 차이</a:t>
            </a:r>
            <a:endParaRPr lang="en-US" altLang="ko-KR" sz="1200" b="1" dirty="0"/>
          </a:p>
          <a:p>
            <a:pPr lvl="3">
              <a:buFontTx/>
              <a:buChar char="-"/>
            </a:pPr>
            <a:r>
              <a:rPr lang="en-US" altLang="ko-KR" sz="1200" b="1" i="0" dirty="0"/>
              <a:t>DNL = -1.0 LSB : </a:t>
            </a:r>
            <a:r>
              <a:rPr lang="ko-KR" altLang="en-US" sz="1200" b="1" i="0" dirty="0"/>
              <a:t>해당 코드가 나타나지 않는 </a:t>
            </a:r>
            <a:r>
              <a:rPr lang="en-US" altLang="ko-KR" sz="1200" b="1" i="0" dirty="0"/>
              <a:t>Missing Code </a:t>
            </a:r>
            <a:r>
              <a:rPr lang="ko-KR" altLang="en-US" sz="1200" b="1" i="0" dirty="0"/>
              <a:t>발생</a:t>
            </a:r>
            <a:endParaRPr lang="en-US" altLang="ko-KR" sz="1200" b="1" i="0" dirty="0"/>
          </a:p>
          <a:p>
            <a:pPr lvl="3">
              <a:buFontTx/>
              <a:buChar char="-"/>
            </a:pPr>
            <a:r>
              <a:rPr lang="en-US" altLang="ko-KR" sz="1200" b="1" i="0" dirty="0"/>
              <a:t>DNL &gt; 1.0 LSB : </a:t>
            </a:r>
            <a:r>
              <a:rPr lang="ko-KR" altLang="en-US" sz="1200" b="1" i="0" dirty="0"/>
              <a:t>전압이 상승하는데 코드가 감소하는 비단조성</a:t>
            </a:r>
            <a:r>
              <a:rPr lang="en-US" altLang="ko-KR" sz="1200" b="1" i="0" dirty="0"/>
              <a:t>(Non-monotonicity) </a:t>
            </a:r>
            <a:r>
              <a:rPr lang="ko-KR" altLang="en-US" sz="1200" b="1" i="0" dirty="0"/>
              <a:t>발생가능성</a:t>
            </a:r>
            <a:endParaRPr lang="en-US" altLang="ko-KR" sz="1200" b="1" i="0" dirty="0"/>
          </a:p>
          <a:p>
            <a:pPr lvl="1">
              <a:buFontTx/>
              <a:buChar char="-"/>
            </a:pPr>
            <a:r>
              <a:rPr lang="en-US" altLang="ko-KR" sz="1200" b="1" i="0" dirty="0"/>
              <a:t>INL(Integral</a:t>
            </a:r>
            <a:r>
              <a:rPr lang="ko-KR" altLang="en-US" sz="1200" b="1" i="0" dirty="0"/>
              <a:t> </a:t>
            </a:r>
            <a:r>
              <a:rPr lang="en-US" altLang="ko-KR" sz="1200" b="1" i="0" dirty="0"/>
              <a:t>Non-Linearity)</a:t>
            </a:r>
          </a:p>
          <a:p>
            <a:pPr lvl="2">
              <a:buFontTx/>
              <a:buChar char="-"/>
            </a:pPr>
            <a:r>
              <a:rPr lang="en-US" altLang="ko-KR" sz="1200" b="1" dirty="0"/>
              <a:t>DNL</a:t>
            </a:r>
            <a:r>
              <a:rPr lang="ko-KR" altLang="en-US" sz="1200" b="1" dirty="0"/>
              <a:t>의 누적합으로 전체 </a:t>
            </a:r>
            <a:r>
              <a:rPr lang="ko-KR" altLang="en-US" sz="1200" b="1" dirty="0" err="1"/>
              <a:t>직선성</a:t>
            </a:r>
            <a:r>
              <a:rPr lang="ko-KR" altLang="en-US" sz="1200" b="1" dirty="0"/>
              <a:t> 이탈 정도</a:t>
            </a:r>
            <a:endParaRPr lang="en-US" altLang="ko-KR" sz="1200" b="1" dirty="0"/>
          </a:p>
          <a:p>
            <a:pPr lvl="1">
              <a:buFontTx/>
              <a:buChar char="-"/>
            </a:pPr>
            <a:r>
              <a:rPr lang="en-US" altLang="ko-KR" sz="1200" b="1" i="0" dirty="0"/>
              <a:t>TUE (Total Unadjusted Error)</a:t>
            </a:r>
          </a:p>
          <a:p>
            <a:pPr lvl="2">
              <a:buFontTx/>
              <a:buChar char="-"/>
            </a:pPr>
            <a:r>
              <a:rPr lang="en-US" altLang="ko-KR" sz="1200" b="1" dirty="0"/>
              <a:t>Offset, Gain, DNL, INL, </a:t>
            </a:r>
            <a:r>
              <a:rPr lang="ko-KR" altLang="en-US" sz="1200" b="1" dirty="0"/>
              <a:t>양자화 오차가 종합 작용된 실제 측정 오차 지표</a:t>
            </a:r>
            <a:endParaRPr lang="en-US" altLang="ko-KR" sz="1200" b="1" dirty="0"/>
          </a:p>
          <a:p>
            <a:pPr lvl="1">
              <a:buFontTx/>
              <a:buChar char="-"/>
            </a:pPr>
            <a:r>
              <a:rPr lang="ko-KR" altLang="en-US" sz="1200" b="1" dirty="0"/>
              <a:t>분해능이 높아도 정밀도가 낮은 이유</a:t>
            </a:r>
            <a:endParaRPr lang="en-US" altLang="ko-KR" sz="1200" b="1" dirty="0"/>
          </a:p>
          <a:p>
            <a:pPr lvl="2">
              <a:buFontTx/>
              <a:buChar char="-"/>
            </a:pPr>
            <a:r>
              <a:rPr lang="en-US" altLang="ko-KR" sz="1200" b="1" dirty="0"/>
              <a:t> </a:t>
            </a:r>
            <a:r>
              <a:rPr lang="ko-KR" altLang="en-US" sz="1200" b="1" dirty="0"/>
              <a:t>분해능이 높더라도 </a:t>
            </a:r>
            <a:r>
              <a:rPr lang="en-US" altLang="ko-KR" sz="1200" b="1" dirty="0"/>
              <a:t>INL</a:t>
            </a:r>
            <a:r>
              <a:rPr lang="ko-KR" altLang="en-US" sz="1200" b="1" dirty="0"/>
              <a:t>이 수 </a:t>
            </a:r>
            <a:r>
              <a:rPr lang="en-US" altLang="ko-KR" sz="1200" b="1" dirty="0"/>
              <a:t>LSB</a:t>
            </a:r>
            <a:r>
              <a:rPr lang="ko-KR" altLang="en-US" sz="1200" b="1" dirty="0"/>
              <a:t>이면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작은 코드 간격에 비해 절대 측정 오차가 클 수 있습니다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하위 비트의 안정성은 노이즈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반복성 평가로 별도 확인해야 합니다</a:t>
            </a:r>
            <a:r>
              <a:rPr lang="en-US" altLang="ko-KR" sz="1200" b="1" dirty="0"/>
              <a:t>.</a:t>
            </a:r>
            <a:endParaRPr lang="en-US" altLang="ko-KR" sz="1200" b="1" i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D1361E-6C7C-47A9-21D8-AC5D918D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2" y="3481254"/>
            <a:ext cx="5743303" cy="2880018"/>
          </a:xfrm>
          <a:prstGeom prst="rect">
            <a:avLst/>
          </a:prstGeom>
          <a:noFill/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052A5B9-3C02-E25E-6E2D-21ECFC0A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77825"/>
          </a:xfrm>
        </p:spPr>
        <p:txBody>
          <a:bodyPr wrap="square">
            <a:normAutofit/>
          </a:bodyPr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측정 오차와 정확도 개선</a:t>
            </a:r>
          </a:p>
        </p:txBody>
      </p:sp>
    </p:spTree>
    <p:extLst>
      <p:ext uri="{BB962C8B-B14F-4D97-AF65-F5344CB8AC3E}">
        <p14:creationId xmlns:p14="http://schemas.microsoft.com/office/powerpoint/2010/main" val="414189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1751-A489-E618-C643-10CBD570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5C73B78-4BC3-869D-8CFD-2311626E3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00193"/>
                <a:ext cx="9601200" cy="2321682"/>
              </a:xfrm>
            </p:spPr>
            <p:txBody>
              <a:bodyPr/>
              <a:lstStyle/>
              <a:p>
                <a:pPr marL="171450" lvl="1" indent="0">
                  <a:buNone/>
                </a:pPr>
                <a:r>
                  <a:rPr lang="en-US" altLang="ko-KR" b="1" dirty="0"/>
                  <a:t>b. </a:t>
                </a:r>
                <a:r>
                  <a:rPr lang="ko-KR" altLang="en-US" b="1" dirty="0"/>
                  <a:t>정확도 개선을 위한 </a:t>
                </a:r>
                <a:r>
                  <a:rPr lang="en-US" altLang="ko-KR" b="1" dirty="0"/>
                  <a:t>HW/SW </a:t>
                </a:r>
                <a:r>
                  <a:rPr lang="ko-KR" altLang="en-US" b="1" dirty="0"/>
                  <a:t>기법 </a:t>
                </a:r>
                <a:r>
                  <a:rPr lang="en-US" altLang="ko-KR" b="1" dirty="0"/>
                  <a:t>- 1</a:t>
                </a:r>
              </a:p>
              <a:p>
                <a:pPr lvl="1">
                  <a:buFontTx/>
                  <a:buChar char="-"/>
                </a:pPr>
                <a:r>
                  <a:rPr lang="en-US" altLang="ko-KR" b="1" i="0" dirty="0">
                    <a:latin typeface="Cambria Math" panose="02040503050406030204" pitchFamily="18" charset="0"/>
                  </a:rPr>
                  <a:t>Self-Calibration (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자체 캘리브레이션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)</a:t>
                </a:r>
              </a:p>
              <a:p>
                <a:pPr lvl="2">
                  <a:buFontTx/>
                  <a:buChar char="-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목적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칩 제조 시 발생하는 내부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CDAC </a:t>
                </a:r>
                <a:r>
                  <a:rPr lang="ko-KR" altLang="en-US" b="1" dirty="0" err="1">
                    <a:latin typeface="Cambria Math" panose="02040503050406030204" pitchFamily="18" charset="0"/>
                  </a:rPr>
                  <a:t>커패시터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 뱅크의 편차를 보정합니다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.</a:t>
                </a:r>
              </a:p>
              <a:p>
                <a:pPr lvl="2">
                  <a:buFontTx/>
                  <a:buChar char="-"/>
                </a:pPr>
                <a:r>
                  <a:rPr lang="ko-KR" altLang="en-US" b="1" i="0" dirty="0">
                    <a:latin typeface="Cambria Math" panose="02040503050406030204" pitchFamily="18" charset="0"/>
                  </a:rPr>
                  <a:t>최적 수행 조건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: ADC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클럭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𝐴𝐷𝐶𝐾</m:t>
                        </m:r>
                      </m:sub>
                    </m:sSub>
                    <m:r>
                      <a:rPr lang="en-US" altLang="ko-KR" b="1" i="0" dirty="0">
                        <a:latin typeface="Cambria Math" panose="02040503050406030204" pitchFamily="18" charset="0"/>
                      </a:rPr>
                      <m:t>≤25</m:t>
                    </m:r>
                    <m:r>
                      <m:rPr>
                        <m:nor/>
                      </m:rPr>
                      <a:rPr lang="en-US" altLang="ko-KR" b="1" i="0" dirty="0">
                        <a:latin typeface="Cambria Math" panose="02040503050406030204" pitchFamily="18" charset="0"/>
                      </a:rPr>
                      <m:t>MHz</m:t>
                    </m:r>
                  </m:oMath>
                </a14:m>
                <a:r>
                  <a:rPr lang="en-US" altLang="ko-KR" b="1" i="0" dirty="0">
                    <a:latin typeface="Cambria Math" panose="02040503050406030204" pitchFamily="18" charset="0"/>
                  </a:rPr>
                  <a:t> , Averaging 32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회 설정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(</a:t>
                </a:r>
                <a:r>
                  <a:rPr lang="ko-KR" altLang="ko-KR" sz="1100" dirty="0"/>
                  <a:t>AN12217</a:t>
                </a:r>
                <a:r>
                  <a:rPr lang="en-US" altLang="ko-KR" sz="1100" dirty="0"/>
                  <a:t> </a:t>
                </a:r>
                <a:r>
                  <a:rPr lang="ko-KR" altLang="en-US" sz="1100" dirty="0"/>
                  <a:t>권장조건</a:t>
                </a:r>
                <a:r>
                  <a:rPr lang="en-US" altLang="ko-KR" dirty="0"/>
                  <a:t>)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모든 디지털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I/O </a:t>
                </a:r>
                <a:r>
                  <a:rPr lang="ko-KR" altLang="en-US" b="1" i="0" dirty="0" err="1">
                    <a:latin typeface="Cambria Math" panose="02040503050406030204" pitchFamily="18" charset="0"/>
                  </a:rPr>
                  <a:t>스위칭을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 정지한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Silent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상태에서 수행</a:t>
                </a:r>
                <a:endParaRPr lang="en-US" altLang="ko-KR" b="1" i="0" dirty="0">
                  <a:latin typeface="Cambria Math" panose="02040503050406030204" pitchFamily="18" charset="0"/>
                </a:endParaRPr>
              </a:p>
              <a:p>
                <a:pPr lvl="1">
                  <a:buFontTx/>
                  <a:buChar char="-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전원 품질 및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I/O Crosstalk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저감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en-US" altLang="ko-KR" b="1" dirty="0" err="1">
                    <a:latin typeface="Cambria Math" panose="02040503050406030204" pitchFamily="18" charset="0"/>
                  </a:rPr>
                  <a:t>VrefH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전원 리플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/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노이즈가 오차로 직결되므로 </a:t>
                </a:r>
                <a:r>
                  <a:rPr lang="ko-KR" altLang="en-US" b="1" dirty="0" err="1">
                    <a:latin typeface="Cambria Math" panose="02040503050406030204" pitchFamily="18" charset="0"/>
                  </a:rPr>
                  <a:t>디커플링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dirty="0" err="1">
                    <a:latin typeface="Cambria Math" panose="02040503050406030204" pitchFamily="18" charset="0"/>
                  </a:rPr>
                  <a:t>캐패시터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 배치 필수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ko-KR" altLang="en-US" b="1" i="0" dirty="0">
                    <a:latin typeface="Cambria Math" panose="02040503050406030204" pitchFamily="18" charset="0"/>
                  </a:rPr>
                  <a:t>아날로그 입력 </a:t>
                </a:r>
                <a:r>
                  <a:rPr lang="ko-KR" altLang="en-US" b="1" i="0" dirty="0" err="1">
                    <a:latin typeface="Cambria Math" panose="02040503050406030204" pitchFamily="18" charset="0"/>
                  </a:rPr>
                  <a:t>트레이스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 양옆에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Analog Ground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패턴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(Ground Guard)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을 배치하여 디지털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I/O </a:t>
                </a:r>
                <a:r>
                  <a:rPr lang="ko-KR" altLang="en-US" b="1" i="0" dirty="0" err="1">
                    <a:latin typeface="Cambria Math" panose="02040503050406030204" pitchFamily="18" charset="0"/>
                  </a:rPr>
                  <a:t>스위칭과의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 dirty="0" err="1">
                    <a:latin typeface="Cambria Math" panose="02040503050406030204" pitchFamily="18" charset="0"/>
                  </a:rPr>
                  <a:t>용량성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 결합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(Crosstalk)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저감</a:t>
                </a:r>
                <a:endParaRPr lang="en-US" altLang="ko-KR" b="1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5C73B78-4BC3-869D-8CFD-2311626E3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00193"/>
                <a:ext cx="9601200" cy="2321682"/>
              </a:xfrm>
              <a:blipFill>
                <a:blip r:embed="rId2"/>
                <a:stretch>
                  <a:fillRect t="-2625" b="-10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1B00C490-3BC9-D5DD-602A-01D049C5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측정 오차와 정확도 개선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35AF02-52BA-349B-DA1B-D017E749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3169631"/>
            <a:ext cx="5896882" cy="337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2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FF5E-FBDD-A343-F5EC-A047637D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992B350-E053-51E1-7DA8-605FD880F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00193"/>
                <a:ext cx="9601200" cy="2728808"/>
              </a:xfrm>
            </p:spPr>
            <p:txBody>
              <a:bodyPr/>
              <a:lstStyle/>
              <a:p>
                <a:pPr marL="171450" lvl="1" indent="0">
                  <a:buNone/>
                </a:pPr>
                <a:r>
                  <a:rPr lang="en-US" altLang="ko-KR" b="1" dirty="0"/>
                  <a:t>b. </a:t>
                </a:r>
                <a:r>
                  <a:rPr lang="ko-KR" altLang="en-US" b="1" dirty="0"/>
                  <a:t>정확도 개선을 위한 </a:t>
                </a:r>
                <a:r>
                  <a:rPr lang="en-US" altLang="ko-KR" b="1" dirty="0"/>
                  <a:t>HW/SW </a:t>
                </a:r>
                <a:r>
                  <a:rPr lang="ko-KR" altLang="en-US" b="1" dirty="0"/>
                  <a:t>기법 </a:t>
                </a:r>
                <a:r>
                  <a:rPr lang="en-US" altLang="ko-KR" b="1" dirty="0"/>
                  <a:t>- 2</a:t>
                </a:r>
              </a:p>
              <a:p>
                <a:pPr lvl="1">
                  <a:buFontTx/>
                  <a:buChar char="-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소스 저항 맞춤 샘플링 타임 설정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ko-KR" altLang="en-US" b="1" i="0" dirty="0">
                    <a:latin typeface="Cambria Math" panose="02040503050406030204" pitchFamily="18" charset="0"/>
                  </a:rPr>
                  <a:t>소스 임피던스가 높을 경우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CTR0[INPSAMP]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레지스터를 설정하여 샘플링 위상 주기를 연장합니다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.</a:t>
                </a:r>
              </a:p>
              <a:p>
                <a:pPr lvl="1">
                  <a:buFontTx/>
                  <a:buChar char="-"/>
                </a:pPr>
                <a:r>
                  <a:rPr lang="en-US" altLang="ko-KR" b="1" dirty="0">
                    <a:latin typeface="Cambria Math" panose="02040503050406030204" pitchFamily="18" charset="0"/>
                  </a:rPr>
                  <a:t>Hardware Averaging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및 비선형 보정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ko-KR" altLang="en-US" b="1" i="0" dirty="0">
                    <a:latin typeface="Cambria Math" panose="02040503050406030204" pitchFamily="18" charset="0"/>
                  </a:rPr>
                  <a:t>최대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32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개 샘플을 내부 하드웨어에서 자동 평균 내어 무작위 노이즈 감쇄</a:t>
                </a:r>
                <a:endParaRPr lang="en-US" altLang="ko-KR" b="1" i="0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구간별 다중 포인트 보정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(Piece-wise linear interpolation)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적용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1">
                  <a:buFontTx/>
                  <a:buChar char="-"/>
                </a:pPr>
                <a:r>
                  <a:rPr lang="en-US" altLang="ko-KR" b="1" i="0" dirty="0">
                    <a:latin typeface="Cambria Math" panose="02040503050406030204" pitchFamily="18" charset="0"/>
                  </a:rPr>
                  <a:t>Bandgap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을 이용한 </a:t>
                </a:r>
                <a:r>
                  <a:rPr lang="en-US" altLang="ko-KR" b="1" i="0" dirty="0" err="1">
                    <a:latin typeface="Cambria Math" panose="02040503050406030204" pitchFamily="18" charset="0"/>
                  </a:rPr>
                  <a:t>Vref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 dirty="0">
                    <a:latin typeface="Cambria Math" panose="02040503050406030204" pitchFamily="18" charset="0"/>
                  </a:rPr>
                  <a:t>모니터링</a:t>
                </a:r>
                <a:endParaRPr lang="en-US" altLang="ko-KR" b="1" i="0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:r>
                  <a:rPr lang="ko-KR" altLang="en-US" b="1" dirty="0">
                    <a:latin typeface="Cambria Math" panose="02040503050406030204" pitchFamily="18" charset="0"/>
                  </a:rPr>
                  <a:t>내부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Bandgap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채널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(Channel 48)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을 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periodic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 변환하여 실시간 </a:t>
                </a:r>
                <a:r>
                  <a:rPr lang="en-US" altLang="ko-KR" b="1" dirty="0" err="1">
                    <a:latin typeface="Cambria Math" panose="02040503050406030204" pitchFamily="18" charset="0"/>
                  </a:rPr>
                  <a:t>Vref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dirty="0">
                    <a:latin typeface="Cambria Math" panose="02040503050406030204" pitchFamily="18" charset="0"/>
                  </a:rPr>
                  <a:t>역산</a:t>
                </a:r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:pPr lvl="2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𝑅𝐸𝐹</m:t>
                        </m:r>
                      </m:sub>
                    </m:sSub>
                    <m:r>
                      <a:rPr lang="en-US" altLang="ko-KR" b="1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𝐕𝐛𝐠</m:t>
                        </m:r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ko-KR" b="1" i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1" i="0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𝐵𝐺</m:t>
                        </m:r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ko-KR" b="1" i="0" dirty="0">
                            <a:latin typeface="Cambria Math" panose="02040503050406030204" pitchFamily="18" charset="0"/>
                          </a:rPr>
                          <m:t>𝐴𝐷𝐶𝑟𝑒𝑠𝑢𝑙𝑡</m:t>
                        </m:r>
                      </m:den>
                    </m:f>
                  </m:oMath>
                </a14:m>
                <a:endParaRPr lang="en-US" altLang="ko-KR" b="1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992B350-E053-51E1-7DA8-605FD880F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00193"/>
                <a:ext cx="9601200" cy="2728808"/>
              </a:xfrm>
              <a:blipFill>
                <a:blip r:embed="rId2"/>
                <a:stretch>
                  <a:fillRect t="-2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B353D67B-40EF-F3B4-5167-F96FD42C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측정 오차와 정확도 개선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E79828-9ABC-9C54-828C-6FD56317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9"/>
          <a:stretch>
            <a:fillRect/>
          </a:stretch>
        </p:blipFill>
        <p:spPr>
          <a:xfrm>
            <a:off x="274320" y="3333206"/>
            <a:ext cx="5978434" cy="307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07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C026-58B4-3B92-1C2A-8B2252689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F227856-CC28-35DA-B9D8-37AEF544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00192"/>
            <a:ext cx="9601200" cy="2330391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변환 모드 및 트리거 구성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Normal Conversion vs In</a:t>
            </a:r>
            <a:r>
              <a:rPr lang="en-US" altLang="ko-KR" b="1" dirty="0">
                <a:latin typeface="Cambria Math" panose="02040503050406030204" pitchFamily="18" charset="0"/>
              </a:rPr>
              <a:t>jected Conversion</a:t>
            </a:r>
          </a:p>
          <a:p>
            <a:pPr lvl="2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Normal : </a:t>
            </a:r>
            <a:r>
              <a:rPr lang="ko-KR" altLang="en-US" b="1" i="0" dirty="0">
                <a:latin typeface="Cambria Math" panose="02040503050406030204" pitchFamily="18" charset="0"/>
              </a:rPr>
              <a:t>일반 센서 모니터링 체인 변환 </a:t>
            </a:r>
            <a:r>
              <a:rPr lang="en-US" altLang="ko-KR" b="1" i="0" dirty="0">
                <a:latin typeface="Cambria Math" panose="02040503050406030204" pitchFamily="18" charset="0"/>
              </a:rPr>
              <a:t>(One-Shot or Continuous scan)</a:t>
            </a:r>
          </a:p>
          <a:p>
            <a:pPr lvl="2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Injected : Normal </a:t>
            </a:r>
            <a:r>
              <a:rPr lang="ko-KR" altLang="en-US" b="1" dirty="0">
                <a:latin typeface="Cambria Math" panose="02040503050406030204" pitchFamily="18" charset="0"/>
              </a:rPr>
              <a:t>변환 진행 중 긴급 트리거</a:t>
            </a:r>
            <a:r>
              <a:rPr lang="en-US" altLang="ko-KR" b="1" dirty="0">
                <a:latin typeface="Cambria Math" panose="02040503050406030204" pitchFamily="18" charset="0"/>
              </a:rPr>
              <a:t>(</a:t>
            </a:r>
            <a:r>
              <a:rPr lang="ko-KR" altLang="en-US" b="1" dirty="0">
                <a:latin typeface="Cambria Math" panose="02040503050406030204" pitchFamily="18" charset="0"/>
              </a:rPr>
              <a:t>모터 </a:t>
            </a:r>
            <a:r>
              <a:rPr lang="en-US" altLang="ko-KR" b="1" dirty="0" err="1">
                <a:latin typeface="Cambria Math" panose="02040503050406030204" pitchFamily="18" charset="0"/>
              </a:rPr>
              <a:t>OverCurrent</a:t>
            </a:r>
            <a:r>
              <a:rPr lang="en-US" altLang="ko-KR" b="1" dirty="0">
                <a:latin typeface="Cambria Math" panose="02040503050406030204" pitchFamily="18" charset="0"/>
              </a:rPr>
              <a:t> </a:t>
            </a:r>
            <a:r>
              <a:rPr lang="ko-KR" altLang="en-US" b="1" dirty="0">
                <a:latin typeface="Cambria Math" panose="02040503050406030204" pitchFamily="18" charset="0"/>
              </a:rPr>
              <a:t>등</a:t>
            </a:r>
            <a:r>
              <a:rPr lang="en-US" altLang="ko-KR" b="1" dirty="0">
                <a:latin typeface="Cambria Math" panose="02040503050406030204" pitchFamily="18" charset="0"/>
              </a:rPr>
              <a:t>) </a:t>
            </a:r>
            <a:r>
              <a:rPr lang="ko-KR" altLang="en-US" b="1" dirty="0">
                <a:latin typeface="Cambria Math" panose="02040503050406030204" pitchFamily="18" charset="0"/>
              </a:rPr>
              <a:t>발생 시 진행 중인 변환을 즉시 중단하고 우선 변환 후 </a:t>
            </a:r>
            <a:r>
              <a:rPr lang="en-US" altLang="ko-KR" b="1" dirty="0">
                <a:latin typeface="Cambria Math" panose="02040503050406030204" pitchFamily="18" charset="0"/>
              </a:rPr>
              <a:t>Normal </a:t>
            </a:r>
            <a:r>
              <a:rPr lang="ko-KR" altLang="en-US" b="1" dirty="0">
                <a:latin typeface="Cambria Math" panose="02040503050406030204" pitchFamily="18" charset="0"/>
              </a:rPr>
              <a:t>모드로 복귀</a:t>
            </a:r>
            <a:endParaRPr lang="en-US" altLang="ko-KR" b="1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Software Trigger vs Hardware Trigger</a:t>
            </a:r>
          </a:p>
          <a:p>
            <a:pPr lvl="2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Software : CPU</a:t>
            </a:r>
            <a:r>
              <a:rPr lang="ko-KR" altLang="en-US" b="1" dirty="0">
                <a:latin typeface="Cambria Math" panose="02040503050406030204" pitchFamily="18" charset="0"/>
              </a:rPr>
              <a:t>가 레지스터 </a:t>
            </a:r>
            <a:r>
              <a:rPr lang="en-US" altLang="ko-KR" b="1" dirty="0">
                <a:latin typeface="Cambria Math" panose="02040503050406030204" pitchFamily="18" charset="0"/>
              </a:rPr>
              <a:t>(NSTART / JSTART)</a:t>
            </a:r>
            <a:r>
              <a:rPr lang="ko-KR" altLang="en-US" b="1" dirty="0">
                <a:latin typeface="Cambria Math" panose="02040503050406030204" pitchFamily="18" charset="0"/>
              </a:rPr>
              <a:t>를 제어하여 개시</a:t>
            </a:r>
            <a:endParaRPr lang="en-US" altLang="ko-KR" b="1" dirty="0">
              <a:latin typeface="Cambria Math" panose="02040503050406030204" pitchFamily="18" charset="0"/>
            </a:endParaRPr>
          </a:p>
          <a:p>
            <a:pPr lvl="2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Hardware : </a:t>
            </a:r>
            <a:r>
              <a:rPr lang="ko-KR" altLang="en-US" b="1" i="0" dirty="0">
                <a:latin typeface="Cambria Math" panose="02040503050406030204" pitchFamily="18" charset="0"/>
              </a:rPr>
              <a:t>외부 핀</a:t>
            </a:r>
            <a:r>
              <a:rPr lang="en-US" altLang="ko-KR" b="1" i="0" dirty="0">
                <a:latin typeface="Cambria Math" panose="02040503050406030204" pitchFamily="18" charset="0"/>
              </a:rPr>
              <a:t>, </a:t>
            </a:r>
            <a:r>
              <a:rPr lang="ko-KR" altLang="en-US" b="1" i="0" dirty="0">
                <a:latin typeface="Cambria Math" panose="02040503050406030204" pitchFamily="18" charset="0"/>
              </a:rPr>
              <a:t>타이머 이벤트로 개시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marL="342900" lvl="2" indent="0">
              <a:buNone/>
            </a:pPr>
            <a:r>
              <a:rPr lang="en-US" altLang="ko-KR" sz="1200" i="0" dirty="0">
                <a:latin typeface="Cambria Math" panose="02040503050406030204" pitchFamily="18" charset="0"/>
              </a:rPr>
              <a:t>*NSTART : Normal Start , JSTART : </a:t>
            </a:r>
            <a:r>
              <a:rPr lang="en-US" altLang="ko-KR" sz="1200" dirty="0">
                <a:latin typeface="Cambria Math" panose="02040503050406030204" pitchFamily="18" charset="0"/>
              </a:rPr>
              <a:t>Injected Start</a:t>
            </a:r>
            <a:endParaRPr lang="en-US" altLang="ko-KR" sz="1200" i="0" dirty="0">
              <a:latin typeface="Cambria Math" panose="020405030504060302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4B14151-6C86-E244-C3BD-E3525347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변환 설정</a:t>
            </a:r>
            <a:r>
              <a:rPr lang="en-US" altLang="ko-KR" b="1" dirty="0"/>
              <a:t>, </a:t>
            </a:r>
            <a:r>
              <a:rPr lang="ko-KR" altLang="en-US" b="1" dirty="0"/>
              <a:t>트리거 및 데이터 처리 흐름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245CD9-B866-1E04-0DC0-A15AB0A7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7" y="2996471"/>
            <a:ext cx="5721531" cy="322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94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CB8E-E6C9-AB51-92C5-1137FC62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45D9D3-CBE8-4FCF-CE02-2F00AD8C1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00192"/>
            <a:ext cx="9601200" cy="2330391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b. TRGMUX</a:t>
            </a:r>
            <a:r>
              <a:rPr lang="ko-KR" altLang="en-US" b="1" dirty="0"/>
              <a:t>와 </a:t>
            </a:r>
            <a:r>
              <a:rPr lang="en-US" altLang="ko-KR" b="1" dirty="0"/>
              <a:t>BCTU </a:t>
            </a:r>
            <a:r>
              <a:rPr lang="ko-KR" altLang="en-US" b="1" dirty="0"/>
              <a:t>라우팅 블록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TRGMUX</a:t>
            </a: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범용 </a:t>
            </a:r>
            <a:r>
              <a:rPr lang="en-US" altLang="ko-KR" b="1" dirty="0">
                <a:latin typeface="Cambria Math" panose="02040503050406030204" pitchFamily="18" charset="0"/>
              </a:rPr>
              <a:t>peripheral </a:t>
            </a:r>
            <a:r>
              <a:rPr lang="ko-KR" altLang="en-US" b="1" dirty="0">
                <a:latin typeface="Cambria Math" panose="02040503050406030204" pitchFamily="18" charset="0"/>
              </a:rPr>
              <a:t>트리거 신호를 </a:t>
            </a:r>
            <a:r>
              <a:rPr lang="en-US" altLang="ko-KR" b="1" dirty="0">
                <a:latin typeface="Cambria Math" panose="02040503050406030204" pitchFamily="18" charset="0"/>
              </a:rPr>
              <a:t>ADC </a:t>
            </a:r>
            <a:r>
              <a:rPr lang="ko-KR" altLang="en-US" b="1" dirty="0">
                <a:latin typeface="Cambria Math" panose="02040503050406030204" pitchFamily="18" charset="0"/>
              </a:rPr>
              <a:t>트리거 입력으로 라우팅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BCTU (Body Cross-triggering Unit)</a:t>
            </a: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타이머</a:t>
            </a:r>
            <a:r>
              <a:rPr lang="en-US" altLang="ko-KR" b="1" dirty="0">
                <a:latin typeface="Cambria Math" panose="02040503050406030204" pitchFamily="18" charset="0"/>
              </a:rPr>
              <a:t>(</a:t>
            </a:r>
            <a:r>
              <a:rPr lang="en-US" altLang="ko-KR" b="1" dirty="0" err="1">
                <a:latin typeface="Cambria Math" panose="02040503050406030204" pitchFamily="18" charset="0"/>
              </a:rPr>
              <a:t>eMIOS</a:t>
            </a:r>
            <a:r>
              <a:rPr lang="en-US" altLang="ko-KR" b="1" dirty="0">
                <a:latin typeface="Cambria Math" panose="02040503050406030204" pitchFamily="18" charset="0"/>
              </a:rPr>
              <a:t> </a:t>
            </a:r>
            <a:r>
              <a:rPr lang="ko-KR" altLang="en-US" b="1" dirty="0">
                <a:latin typeface="Cambria Math" panose="02040503050406030204" pitchFamily="18" charset="0"/>
              </a:rPr>
              <a:t>등</a:t>
            </a:r>
            <a:r>
              <a:rPr lang="en-US" altLang="ko-KR" b="1" dirty="0">
                <a:latin typeface="Cambria Math" panose="02040503050406030204" pitchFamily="18" charset="0"/>
              </a:rPr>
              <a:t>) </a:t>
            </a:r>
            <a:r>
              <a:rPr lang="ko-KR" altLang="en-US" b="1" dirty="0">
                <a:latin typeface="Cambria Math" panose="02040503050406030204" pitchFamily="18" charset="0"/>
              </a:rPr>
              <a:t>이벤트 발생 시 </a:t>
            </a:r>
            <a:r>
              <a:rPr lang="en-US" altLang="ko-KR" b="1" dirty="0">
                <a:latin typeface="Cambria Math" panose="02040503050406030204" pitchFamily="18" charset="0"/>
              </a:rPr>
              <a:t>ADC</a:t>
            </a:r>
            <a:r>
              <a:rPr lang="ko-KR" altLang="en-US" b="1" dirty="0">
                <a:latin typeface="Cambria Math" panose="02040503050406030204" pitchFamily="18" charset="0"/>
              </a:rPr>
              <a:t>에 채널 번호와 트리거 명령을 하향 전달하고</a:t>
            </a:r>
            <a:r>
              <a:rPr lang="en-US" altLang="ko-KR" b="1" dirty="0">
                <a:latin typeface="Cambria Math" panose="02040503050406030204" pitchFamily="18" charset="0"/>
              </a:rPr>
              <a:t>, </a:t>
            </a:r>
            <a:r>
              <a:rPr lang="ko-KR" altLang="en-US" b="1" dirty="0">
                <a:latin typeface="Cambria Math" panose="02040503050406030204" pitchFamily="18" charset="0"/>
              </a:rPr>
              <a:t>변환 완료 결과</a:t>
            </a:r>
            <a:r>
              <a:rPr lang="en-US" altLang="ko-KR" b="1" dirty="0">
                <a:latin typeface="Cambria Math" panose="02040503050406030204" pitchFamily="18" charset="0"/>
              </a:rPr>
              <a:t>(15-bit)</a:t>
            </a:r>
            <a:r>
              <a:rPr lang="ko-KR" altLang="en-US" b="1" dirty="0">
                <a:latin typeface="Cambria Math" panose="02040503050406030204" pitchFamily="18" charset="0"/>
              </a:rPr>
              <a:t>를 수신하는 전용 하드웨어 인터페이스</a:t>
            </a:r>
            <a:endParaRPr lang="en-US" altLang="ko-KR" b="1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DMA </a:t>
            </a:r>
            <a:r>
              <a:rPr lang="ko-KR" altLang="en-US" b="1" i="0" dirty="0">
                <a:latin typeface="Cambria Math" panose="02040503050406030204" pitchFamily="18" charset="0"/>
              </a:rPr>
              <a:t>요청 주체 및 저장 위치 경로 구분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2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ADC</a:t>
            </a:r>
            <a:r>
              <a:rPr lang="ko-KR" altLang="en-US" b="1" dirty="0">
                <a:latin typeface="Cambria Math" panose="02040503050406030204" pitchFamily="18" charset="0"/>
              </a:rPr>
              <a:t> 직접 </a:t>
            </a:r>
            <a:r>
              <a:rPr lang="en-US" altLang="ko-KR" b="1" dirty="0">
                <a:latin typeface="Cambria Math" panose="02040503050406030204" pitchFamily="18" charset="0"/>
              </a:rPr>
              <a:t>DMA </a:t>
            </a:r>
            <a:r>
              <a:rPr lang="ko-KR" altLang="en-US" b="1" dirty="0">
                <a:latin typeface="Cambria Math" panose="02040503050406030204" pitchFamily="18" charset="0"/>
              </a:rPr>
              <a:t>읽기 </a:t>
            </a:r>
            <a:r>
              <a:rPr lang="en-US" altLang="ko-KR" b="1" dirty="0">
                <a:latin typeface="Cambria Math" panose="02040503050406030204" pitchFamily="18" charset="0"/>
              </a:rPr>
              <a:t>: ADC </a:t>
            </a:r>
            <a:r>
              <a:rPr lang="ko-KR" altLang="en-US" b="1" dirty="0">
                <a:latin typeface="Cambria Math" panose="02040503050406030204" pitchFamily="18" charset="0"/>
              </a:rPr>
              <a:t>모듈이 변환 완료 후 직접 </a:t>
            </a:r>
            <a:r>
              <a:rPr lang="en-US" altLang="ko-KR" b="1" dirty="0">
                <a:latin typeface="Cambria Math" panose="02040503050406030204" pitchFamily="18" charset="0"/>
              </a:rPr>
              <a:t>DMA Request</a:t>
            </a:r>
            <a:r>
              <a:rPr lang="ko-KR" altLang="en-US" b="1" dirty="0">
                <a:latin typeface="Cambria Math" panose="02040503050406030204" pitchFamily="18" charset="0"/>
              </a:rPr>
              <a:t>를 발생시켜 </a:t>
            </a:r>
            <a:r>
              <a:rPr lang="en-US" altLang="ko-KR" b="1" dirty="0" err="1">
                <a:latin typeface="Cambria Math" panose="02040503050406030204" pitchFamily="18" charset="0"/>
              </a:rPr>
              <a:t>ADCx_CDR</a:t>
            </a:r>
            <a:r>
              <a:rPr lang="en-US" altLang="ko-KR" b="1" dirty="0">
                <a:latin typeface="Cambria Math" panose="02040503050406030204" pitchFamily="18" charset="0"/>
              </a:rPr>
              <a:t> </a:t>
            </a:r>
            <a:r>
              <a:rPr lang="ko-KR" altLang="en-US" b="1" dirty="0">
                <a:latin typeface="Cambria Math" panose="02040503050406030204" pitchFamily="18" charset="0"/>
              </a:rPr>
              <a:t>레지스터에서 </a:t>
            </a:r>
            <a:r>
              <a:rPr lang="en-US" altLang="ko-KR" b="1" dirty="0">
                <a:latin typeface="Cambria Math" panose="02040503050406030204" pitchFamily="18" charset="0"/>
              </a:rPr>
              <a:t>SRAM</a:t>
            </a:r>
            <a:r>
              <a:rPr lang="ko-KR" altLang="en-US" b="1" dirty="0">
                <a:latin typeface="Cambria Math" panose="02040503050406030204" pitchFamily="18" charset="0"/>
              </a:rPr>
              <a:t>으로 전송</a:t>
            </a:r>
            <a:endParaRPr lang="en-US" altLang="ko-KR" b="1" dirty="0">
              <a:latin typeface="Cambria Math" panose="02040503050406030204" pitchFamily="18" charset="0"/>
            </a:endParaRPr>
          </a:p>
          <a:p>
            <a:pPr lvl="2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BCTU </a:t>
            </a:r>
            <a:r>
              <a:rPr lang="ko-KR" altLang="en-US" b="1" dirty="0">
                <a:latin typeface="Cambria Math" panose="02040503050406030204" pitchFamily="18" charset="0"/>
              </a:rPr>
              <a:t>통합 </a:t>
            </a:r>
            <a:r>
              <a:rPr lang="en-US" altLang="ko-KR" b="1" dirty="0">
                <a:latin typeface="Cambria Math" panose="02040503050406030204" pitchFamily="18" charset="0"/>
              </a:rPr>
              <a:t>DMA </a:t>
            </a:r>
            <a:r>
              <a:rPr lang="ko-KR" altLang="en-US" b="1" dirty="0">
                <a:latin typeface="Cambria Math" panose="02040503050406030204" pitchFamily="18" charset="0"/>
              </a:rPr>
              <a:t>읽기 </a:t>
            </a:r>
            <a:r>
              <a:rPr lang="en-US" altLang="ko-KR" b="1" dirty="0">
                <a:latin typeface="Cambria Math" panose="02040503050406030204" pitchFamily="18" charset="0"/>
              </a:rPr>
              <a:t>: BCTU</a:t>
            </a:r>
            <a:r>
              <a:rPr lang="ko-KR" altLang="en-US" b="1" dirty="0">
                <a:latin typeface="Cambria Math" panose="02040503050406030204" pitchFamily="18" charset="0"/>
              </a:rPr>
              <a:t>가 </a:t>
            </a:r>
            <a:r>
              <a:rPr lang="en-US" altLang="ko-KR" b="1" dirty="0">
                <a:latin typeface="Cambria Math" panose="02040503050406030204" pitchFamily="18" charset="0"/>
              </a:rPr>
              <a:t>ADC </a:t>
            </a:r>
            <a:r>
              <a:rPr lang="ko-KR" altLang="en-US" b="1" dirty="0">
                <a:latin typeface="Cambria Math" panose="02040503050406030204" pitchFamily="18" charset="0"/>
              </a:rPr>
              <a:t>결과를 수신하여 </a:t>
            </a:r>
            <a:r>
              <a:rPr lang="en-US" altLang="ko-KR" b="1" dirty="0" err="1">
                <a:latin typeface="Cambria Math" panose="02040503050406030204" pitchFamily="18" charset="0"/>
              </a:rPr>
              <a:t>BCTU_ADCxDR</a:t>
            </a:r>
            <a:r>
              <a:rPr lang="en-US" altLang="ko-KR" b="1" dirty="0">
                <a:latin typeface="Cambria Math" panose="02040503050406030204" pitchFamily="18" charset="0"/>
              </a:rPr>
              <a:t> </a:t>
            </a:r>
            <a:r>
              <a:rPr lang="ko-KR" altLang="en-US" b="1" dirty="0">
                <a:latin typeface="Cambria Math" panose="02040503050406030204" pitchFamily="18" charset="0"/>
              </a:rPr>
              <a:t>레지스터에 저장 후 </a:t>
            </a:r>
            <a:r>
              <a:rPr lang="en-US" altLang="ko-KR" b="1" dirty="0">
                <a:latin typeface="Cambria Math" panose="02040503050406030204" pitchFamily="18" charset="0"/>
              </a:rPr>
              <a:t>BCTU </a:t>
            </a:r>
            <a:r>
              <a:rPr lang="ko-KR" altLang="en-US" b="1" dirty="0">
                <a:latin typeface="Cambria Math" panose="02040503050406030204" pitchFamily="18" charset="0"/>
              </a:rPr>
              <a:t>모듈이 </a:t>
            </a:r>
            <a:r>
              <a:rPr lang="en-US" altLang="ko-KR" b="1" dirty="0">
                <a:latin typeface="Cambria Math" panose="02040503050406030204" pitchFamily="18" charset="0"/>
              </a:rPr>
              <a:t>DMA Request</a:t>
            </a:r>
            <a:r>
              <a:rPr lang="ko-KR" altLang="en-US" b="1" dirty="0">
                <a:latin typeface="Cambria Math" panose="02040503050406030204" pitchFamily="18" charset="0"/>
              </a:rPr>
              <a:t>를 발생시켜 </a:t>
            </a:r>
            <a:r>
              <a:rPr lang="en-US" altLang="ko-KR" b="1" dirty="0">
                <a:latin typeface="Cambria Math" panose="02040503050406030204" pitchFamily="18" charset="0"/>
              </a:rPr>
              <a:t>SRAM </a:t>
            </a:r>
            <a:r>
              <a:rPr lang="ko-KR" altLang="en-US" b="1" dirty="0">
                <a:latin typeface="Cambria Math" panose="02040503050406030204" pitchFamily="18" charset="0"/>
              </a:rPr>
              <a:t>전송</a:t>
            </a:r>
            <a:endParaRPr lang="en-US" altLang="ko-KR" b="1" i="0" dirty="0">
              <a:latin typeface="Cambria Math" panose="020405030504060302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84BAEE0-4426-DBD5-0A61-11412105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변환 설정</a:t>
            </a:r>
            <a:r>
              <a:rPr lang="en-US" altLang="ko-KR" b="1" dirty="0"/>
              <a:t>, </a:t>
            </a:r>
            <a:r>
              <a:rPr lang="ko-KR" altLang="en-US" b="1" dirty="0"/>
              <a:t>트리거 및 데이터 처리 흐름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2D2501-C628-6024-8948-6BEE30EE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4" y="3362078"/>
            <a:ext cx="5425440" cy="305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1DCFE-BFB5-E0D0-8FAD-387A2304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868AD0-BF1F-7226-BF7C-AB6DBBD5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00192"/>
            <a:ext cx="9601200" cy="2844197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전 주기 자동화 파이프라인 및 안전 기능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i="0" dirty="0">
                <a:latin typeface="Cambria Math" panose="02040503050406030204" pitchFamily="18" charset="0"/>
              </a:rPr>
              <a:t>파이프라인 흐름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타이머 이벤트 </a:t>
            </a:r>
            <a:r>
              <a:rPr lang="en-US" altLang="ko-KR" b="1" dirty="0">
                <a:latin typeface="Cambria Math" panose="02040503050406030204" pitchFamily="18" charset="0"/>
              </a:rPr>
              <a:t>(</a:t>
            </a:r>
            <a:r>
              <a:rPr lang="en-US" altLang="ko-KR" b="1" dirty="0" err="1">
                <a:latin typeface="Cambria Math" panose="02040503050406030204" pitchFamily="18" charset="0"/>
              </a:rPr>
              <a:t>eMIOS</a:t>
            </a:r>
            <a:r>
              <a:rPr lang="en-US" altLang="ko-KR" b="1" dirty="0">
                <a:latin typeface="Cambria Math" panose="02040503050406030204" pitchFamily="18" charset="0"/>
              </a:rPr>
              <a:t>/PIT) -&gt; BCTU </a:t>
            </a:r>
            <a:r>
              <a:rPr lang="ko-KR" altLang="en-US" b="1" dirty="0">
                <a:latin typeface="Cambria Math" panose="02040503050406030204" pitchFamily="18" charset="0"/>
              </a:rPr>
              <a:t>라우팅 </a:t>
            </a:r>
            <a:r>
              <a:rPr lang="en-US" altLang="ko-KR" b="1" dirty="0">
                <a:latin typeface="Cambria Math" panose="02040503050406030204" pitchFamily="18" charset="0"/>
              </a:rPr>
              <a:t>-&gt; ADC </a:t>
            </a:r>
            <a:r>
              <a:rPr lang="ko-KR" altLang="en-US" b="1" dirty="0">
                <a:latin typeface="Cambria Math" panose="02040503050406030204" pitchFamily="18" charset="0"/>
              </a:rPr>
              <a:t>변환 </a:t>
            </a:r>
            <a:r>
              <a:rPr lang="en-US" altLang="ko-KR" b="1" dirty="0">
                <a:latin typeface="Cambria Math" panose="02040503050406030204" pitchFamily="18" charset="0"/>
              </a:rPr>
              <a:t>-&gt; DMA SRAM </a:t>
            </a:r>
            <a:r>
              <a:rPr lang="ko-KR" altLang="en-US" b="1" dirty="0">
                <a:latin typeface="Cambria Math" panose="02040503050406030204" pitchFamily="18" charset="0"/>
              </a:rPr>
              <a:t>전송 </a:t>
            </a:r>
            <a:r>
              <a:rPr lang="en-US" altLang="ko-KR" b="1" dirty="0">
                <a:latin typeface="Cambria Math" panose="02040503050406030204" pitchFamily="18" charset="0"/>
              </a:rPr>
              <a:t>-&gt; </a:t>
            </a:r>
            <a:r>
              <a:rPr lang="ko-KR" altLang="en-US" b="1" dirty="0">
                <a:latin typeface="Cambria Math" panose="02040503050406030204" pitchFamily="18" charset="0"/>
              </a:rPr>
              <a:t>버퍼 완료 </a:t>
            </a:r>
            <a:r>
              <a:rPr lang="en-US" altLang="ko-KR" b="1" dirty="0">
                <a:latin typeface="Cambria Math" panose="02040503050406030204" pitchFamily="18" charset="0"/>
              </a:rPr>
              <a:t>IRQ -&gt; CPU Callback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ko-KR" altLang="en-US" b="1" i="0" dirty="0">
                <a:latin typeface="Cambria Math" panose="02040503050406030204" pitchFamily="18" charset="0"/>
              </a:rPr>
              <a:t>채널 완료</a:t>
            </a:r>
            <a:r>
              <a:rPr lang="en-US" altLang="ko-KR" b="1" i="0" dirty="0">
                <a:latin typeface="Cambria Math" panose="02040503050406030204" pitchFamily="18" charset="0"/>
              </a:rPr>
              <a:t>(EOC) vs </a:t>
            </a:r>
            <a:r>
              <a:rPr lang="ko-KR" altLang="en-US" b="1" i="0" dirty="0">
                <a:latin typeface="Cambria Math" panose="02040503050406030204" pitchFamily="18" charset="0"/>
              </a:rPr>
              <a:t>체인 완료 </a:t>
            </a:r>
            <a:r>
              <a:rPr lang="en-US" altLang="ko-KR" b="1" i="0" dirty="0">
                <a:latin typeface="Cambria Math" panose="02040503050406030204" pitchFamily="18" charset="0"/>
              </a:rPr>
              <a:t>(ECH/JECH)</a:t>
            </a:r>
          </a:p>
          <a:p>
            <a:pPr lvl="2">
              <a:buFontTx/>
              <a:buChar char="-"/>
            </a:pPr>
            <a:r>
              <a:rPr lang="en-US" altLang="ko-KR" b="1" i="0" dirty="0">
                <a:latin typeface="Cambria Math" panose="02040503050406030204" pitchFamily="18" charset="0"/>
              </a:rPr>
              <a:t>EOC :</a:t>
            </a:r>
            <a:r>
              <a:rPr lang="ko-KR" altLang="en-US" b="1" i="0" dirty="0">
                <a:latin typeface="Cambria Math" panose="02040503050406030204" pitchFamily="18" charset="0"/>
              </a:rPr>
              <a:t> 단일 채널 완료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2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ECH/JECH : </a:t>
            </a:r>
            <a:r>
              <a:rPr lang="ko-KR" altLang="en-US" b="1" dirty="0">
                <a:latin typeface="Cambria Math" panose="02040503050406030204" pitchFamily="18" charset="0"/>
              </a:rPr>
              <a:t>체인 그룹 전체 완료 시</a:t>
            </a:r>
            <a:endParaRPr lang="en-US" altLang="ko-KR" b="1" i="0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Analog Watchdog</a:t>
            </a: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변환 데이터가 </a:t>
            </a:r>
            <a:r>
              <a:rPr lang="en-US" altLang="ko-KR" b="1" dirty="0">
                <a:latin typeface="Cambria Math" panose="02040503050406030204" pitchFamily="18" charset="0"/>
              </a:rPr>
              <a:t>Threshold </a:t>
            </a:r>
            <a:r>
              <a:rPr lang="ko-KR" altLang="en-US" b="1" dirty="0">
                <a:latin typeface="Cambria Math" panose="02040503050406030204" pitchFamily="18" charset="0"/>
              </a:rPr>
              <a:t>범위를 벗어나면 즉시 인터럽트 발생</a:t>
            </a:r>
            <a:endParaRPr lang="en-US" altLang="ko-KR" b="1" dirty="0">
              <a:latin typeface="Cambria Math" panose="02040503050406030204" pitchFamily="18" charset="0"/>
            </a:endParaRPr>
          </a:p>
          <a:p>
            <a:pPr lvl="1">
              <a:buFontTx/>
              <a:buChar char="-"/>
            </a:pPr>
            <a:r>
              <a:rPr lang="en-US" altLang="ko-KR" b="1" dirty="0">
                <a:latin typeface="Cambria Math" panose="02040503050406030204" pitchFamily="18" charset="0"/>
              </a:rPr>
              <a:t>Self-Test</a:t>
            </a:r>
          </a:p>
          <a:p>
            <a:pPr lvl="2">
              <a:buFontTx/>
              <a:buChar char="-"/>
            </a:pPr>
            <a:r>
              <a:rPr lang="ko-KR" altLang="en-US" b="1" dirty="0">
                <a:latin typeface="Cambria Math" panose="02040503050406030204" pitchFamily="18" charset="0"/>
              </a:rPr>
              <a:t>가동 중 </a:t>
            </a:r>
            <a:r>
              <a:rPr lang="en-US" altLang="ko-KR" b="1" dirty="0">
                <a:latin typeface="Cambria Math" panose="02040503050406030204" pitchFamily="18" charset="0"/>
              </a:rPr>
              <a:t>Supply(Algorithm S) </a:t>
            </a:r>
            <a:r>
              <a:rPr lang="ko-KR" altLang="en-US" b="1" dirty="0">
                <a:latin typeface="Cambria Math" panose="02040503050406030204" pitchFamily="18" charset="0"/>
              </a:rPr>
              <a:t>및</a:t>
            </a:r>
            <a:r>
              <a:rPr lang="en-US" altLang="ko-KR" b="1" dirty="0">
                <a:latin typeface="Cambria Math" panose="02040503050406030204" pitchFamily="18" charset="0"/>
              </a:rPr>
              <a:t> Capacitive matrix(Algorithm C) </a:t>
            </a:r>
            <a:r>
              <a:rPr lang="ko-KR" altLang="en-US" b="1" dirty="0">
                <a:latin typeface="Cambria Math" panose="02040503050406030204" pitchFamily="18" charset="0"/>
              </a:rPr>
              <a:t>건전성을 하드웨어 진단</a:t>
            </a:r>
            <a:endParaRPr lang="en-US" altLang="ko-KR" b="1" dirty="0">
              <a:latin typeface="Cambria Math" panose="020405030504060302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2369FA7-ABF3-C569-B120-57C06B6C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변환 설정</a:t>
            </a:r>
            <a:r>
              <a:rPr lang="en-US" altLang="ko-KR" b="1" dirty="0"/>
              <a:t>, </a:t>
            </a:r>
            <a:r>
              <a:rPr lang="ko-KR" altLang="en-US" b="1" dirty="0"/>
              <a:t>트리거 및 데이터 처리 흐름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D5A471-C1FC-8236-9276-07E73F9FC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10" y="3422280"/>
            <a:ext cx="5059680" cy="284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90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2272" y="1298150"/>
            <a:ext cx="8458200" cy="461665"/>
          </a:xfrm>
        </p:spPr>
        <p:txBody>
          <a:bodyPr/>
          <a:lstStyle/>
          <a:p>
            <a:pPr algn="ctr"/>
            <a:r>
              <a:rPr lang="en-US" altLang="zh-TW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You!</a:t>
            </a:r>
            <a:endParaRPr lang="zh-TW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052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PAGE" val="1"/>
  <p:tag name="LAYOUT" val="ppLayoutTitle"/>
</p:tagLst>
</file>

<file path=ppt/theme/theme1.xml><?xml version="1.0" encoding="utf-8"?>
<a:theme xmlns:a="http://schemas.openxmlformats.org/drawingml/2006/main" name="Custom Template">
  <a:themeElements>
    <a:clrScheme name="Custom 10">
      <a:dk1>
        <a:srgbClr val="000000"/>
      </a:dk1>
      <a:lt1>
        <a:srgbClr val="FFFFFF"/>
      </a:lt1>
      <a:dk2>
        <a:srgbClr val="F9BD11"/>
      </a:dk2>
      <a:lt2>
        <a:srgbClr val="A674B6"/>
      </a:lt2>
      <a:accent1>
        <a:srgbClr val="6B1785"/>
      </a:accent1>
      <a:accent2>
        <a:srgbClr val="E85296"/>
      </a:accent2>
      <a:accent3>
        <a:srgbClr val="223684"/>
      </a:accent3>
      <a:accent4>
        <a:srgbClr val="FA9E26"/>
      </a:accent4>
      <a:accent5>
        <a:srgbClr val="64A544"/>
      </a:accent5>
      <a:accent6>
        <a:srgbClr val="707070"/>
      </a:accent6>
      <a:hlink>
        <a:srgbClr val="57C4E5"/>
      </a:hlink>
      <a:folHlink>
        <a:srgbClr val="1E264D"/>
      </a:folHlink>
    </a:clrScheme>
    <a:fontScheme name="Custom 3">
      <a:majorFont>
        <a:latin typeface="Arial"/>
        <a:ea typeface="微軟正黑體"/>
        <a:cs typeface=""/>
      </a:majorFont>
      <a:minorFont>
        <a:latin typeface="Arial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solidFill>
          <a:schemeClr val="folHlink"/>
        </a:solidFill>
        <a:ln w="6350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/>
  <a:custClrLst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99CEB1"/>
    </a:custClr>
    <a:custClr name="Plum">
      <a:srgbClr val="890C58"/>
    </a:custClr>
    <a:custClr name="Plum Tint">
      <a:srgbClr val="D09EBC"/>
    </a:custClr>
    <a:custClr name="Olive">
      <a:srgbClr val="949300"/>
    </a:custClr>
    <a:custClr name="Olive Tint">
      <a:srgbClr val="D4D499"/>
    </a:custClr>
    <a:custClr name="White">
      <a:srgbClr val="FFFFFF"/>
    </a:custClr>
    <a:custClr name="White">
      <a:srgbClr val="FFFFFF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  <a:extLst>
    <a:ext uri="{05A4C25C-085E-4340-85A3-A5531E510DB2}">
      <thm15:themeFamily xmlns:thm15="http://schemas.microsoft.com/office/thememl/2012/main" name="ICG_Pres(A4).potx" id="{1CAD92D0-11EB-452F-80BC-0D788F84B31A}" vid="{B63DEF18-A341-4094-9B81-407A50896A4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XMLData TextToDisplay="%CLASSIFICATIONDATETIME%">03:26 22/03/2022</XMLDat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XMLData TextToDisplay="%DOCUMENTGUID%">{00000000-0000-0000-0000-000000000000}</XMLData>
</file>

<file path=customXml/item4.xml><?xml version="1.0" encoding="utf-8"?>
<XMLData TextToDisplay="RightsWATCHMark">7|CITI-No PII-Public|{00000000-0000-0000-0000-000000000000}</XMLData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A40CA4937FA046B44BA4208E4DF998" ma:contentTypeVersion="13" ma:contentTypeDescription="Create a new document." ma:contentTypeScope="" ma:versionID="ae8adf9f4d100097ed186c74e2831401">
  <xsd:schema xmlns:xsd="http://www.w3.org/2001/XMLSchema" xmlns:xs="http://www.w3.org/2001/XMLSchema" xmlns:p="http://schemas.microsoft.com/office/2006/metadata/properties" xmlns:ns3="fde19fd9-f985-403f-9ecd-a8c85f1eeb36" targetNamespace="http://schemas.microsoft.com/office/2006/metadata/properties" ma:root="true" ma:fieldsID="b107c76459a48fda46627da58d915426" ns3:_="">
    <xsd:import namespace="fde19fd9-f985-403f-9ecd-a8c85f1eeb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SearchProperties" minOccurs="0"/>
                <xsd:element ref="ns3:MediaServiceSystemTag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e19fd9-f985-403f-9ecd-a8c85f1ee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>
  <documentManagement>
    <_activity xmlns="fde19fd9-f985-403f-9ecd-a8c85f1eeb36" xsi:nil="true"/>
  </documentManagement>
</p:properties>
</file>

<file path=customXml/itemProps1.xml><?xml version="1.0" encoding="utf-8"?>
<ds:datastoreItem xmlns:ds="http://schemas.openxmlformats.org/officeDocument/2006/customXml" ds:itemID="{6F780264-2E58-4E7B-A6F7-95BC81B5F9AF}">
  <ds:schemaRefs/>
</ds:datastoreItem>
</file>

<file path=customXml/itemProps2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936F8-D8E2-4141-B8BA-3072053A0290}">
  <ds:schemaRefs/>
</ds:datastoreItem>
</file>

<file path=customXml/itemProps4.xml><?xml version="1.0" encoding="utf-8"?>
<ds:datastoreItem xmlns:ds="http://schemas.openxmlformats.org/officeDocument/2006/customXml" ds:itemID="{8C0C9B8C-B691-458C-88F0-6A2CFAD11F61}">
  <ds:schemaRefs/>
</ds:datastoreItem>
</file>

<file path=customXml/itemProps5.xml><?xml version="1.0" encoding="utf-8"?>
<ds:datastoreItem xmlns:ds="http://schemas.openxmlformats.org/officeDocument/2006/customXml" ds:itemID="{DE234E50-49FA-4A0D-A886-3B41CD5E79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e19fd9-f985-403f-9ecd-a8c85f1eeb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EB160343-857B-421C-B78C-26DAF858986D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fde19fd9-f985-403f-9ecd-a8c85f1eeb36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28789</TotalTime>
  <Words>1616</Words>
  <Application>Microsoft Office PowerPoint</Application>
  <PresentationFormat>A4 용지(210x297mm)</PresentationFormat>
  <Paragraphs>154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Symbol</vt:lpstr>
      <vt:lpstr>Wingdings</vt:lpstr>
      <vt:lpstr>Custom Template</vt:lpstr>
      <vt:lpstr>PowerPoint 프레젠테이션</vt:lpstr>
      <vt:lpstr>목차</vt:lpstr>
      <vt:lpstr>1. ADC 개요 및 주요 사양</vt:lpstr>
      <vt:lpstr>1. ADC 개요 및 주요 사양</vt:lpstr>
      <vt:lpstr>1. ADC 개요 및 주요 사양</vt:lpstr>
      <vt:lpstr>1. ADC 개요 및 주요 사양</vt:lpstr>
      <vt:lpstr>2. ADC 동작 원리 및 변환 시간</vt:lpstr>
      <vt:lpstr>2. ADC 동작 원리 및 변환 시간</vt:lpstr>
      <vt:lpstr>2. ADC 동작 원리 및 변환 시간</vt:lpstr>
      <vt:lpstr>3. 측정 오차와 정확도 개선</vt:lpstr>
      <vt:lpstr>3. 측정 오차와 정확도 개선</vt:lpstr>
      <vt:lpstr>3. 측정 오차와 정확도 개선</vt:lpstr>
      <vt:lpstr>3. 측정 오차와 정확도 개선</vt:lpstr>
      <vt:lpstr>4. 변환 설정, 트리거 및 데이터 처리 흐름</vt:lpstr>
      <vt:lpstr>4. 변환 설정, 트리거 및 데이터 처리 흐름</vt:lpstr>
      <vt:lpstr>4. 변환 설정, 트리거 및 데이터 처리 흐름</vt:lpstr>
      <vt:lpstr>Thank You!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Dave, Akhil [CCC-OT NE]</dc:creator>
  <cp:lastModifiedBy>David Kang(강석준)(Korea)</cp:lastModifiedBy>
  <cp:revision>1201</cp:revision>
  <cp:lastPrinted>2022-03-22T03:30:12Z</cp:lastPrinted>
  <dcterms:created xsi:type="dcterms:W3CDTF">2019-02-25T10:38:13Z</dcterms:created>
  <dcterms:modified xsi:type="dcterms:W3CDTF">2026-10-14T02:09:42Z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true</vt:bool>
  </property>
  <property fmtid="{D5CDD505-2E9C-101B-9397-08002B2CF9AE}" pid="4" name="PageNumAlign">
    <vt:lpwstr>L</vt:lpwstr>
  </property>
  <property fmtid="{D5CDD505-2E9C-101B-9397-08002B2CF9AE}" pid="5" name="SectionTitleAlign">
    <vt:lpwstr>L</vt:lpwstr>
  </property>
  <property fmtid="{D5CDD505-2E9C-101B-9397-08002B2CF9AE}" pid="6" name="PageNumberTop">
    <vt:lpwstr>529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24.44</vt:lpwstr>
  </property>
  <property fmtid="{D5CDD505-2E9C-101B-9397-08002B2CF9AE}" pid="10" name="SectionTitleTop">
    <vt:lpwstr>529</vt:lpwstr>
  </property>
  <property fmtid="{D5CDD505-2E9C-101B-9397-08002B2CF9AE}" pid="11" name="SectionTitleLeft">
    <vt:lpwstr>37.44</vt:lpwstr>
  </property>
  <property fmtid="{D5CDD505-2E9C-101B-9397-08002B2CF9AE}" pid="12" name="TOCHeaderTop">
    <vt:lpwstr>4.49937</vt:lpwstr>
  </property>
  <property fmtid="{D5CDD505-2E9C-101B-9397-08002B2CF9AE}" pid="13" name="TOCHeaderLeft">
    <vt:lpwstr>12.24</vt:lpwstr>
  </property>
  <property fmtid="{D5CDD505-2E9C-101B-9397-08002B2CF9AE}" pid="14" name="CitiLogoTop">
    <vt:lpwstr>517.25</vt:lpwstr>
  </property>
  <property fmtid="{D5CDD505-2E9C-101B-9397-08002B2CF9AE}" pid="15" name="CitiLogoLeft">
    <vt:lpwstr>736.75</vt:lpwstr>
  </property>
  <property fmtid="{D5CDD505-2E9C-101B-9397-08002B2CF9AE}" pid="16" name="RightsWATCHMark">
    <vt:lpwstr>7|CITI-No PII-Public|{00000000-0000-0000-0000-000000000000}</vt:lpwstr>
  </property>
  <property fmtid="{D5CDD505-2E9C-101B-9397-08002B2CF9AE}" pid="17" name="MSIP_Label_0133068c-5f3b-4062-adca-9b17e9c90306_Enabled">
    <vt:lpwstr>true</vt:lpwstr>
  </property>
  <property fmtid="{D5CDD505-2E9C-101B-9397-08002B2CF9AE}" pid="18" name="MSIP_Label_0133068c-5f3b-4062-adca-9b17e9c90306_SetDate">
    <vt:lpwstr>2024-02-26T04:49:14Z</vt:lpwstr>
  </property>
  <property fmtid="{D5CDD505-2E9C-101B-9397-08002B2CF9AE}" pid="19" name="MSIP_Label_0133068c-5f3b-4062-adca-9b17e9c90306_Method">
    <vt:lpwstr>Privileged</vt:lpwstr>
  </property>
  <property fmtid="{D5CDD505-2E9C-101B-9397-08002B2CF9AE}" pid="20" name="MSIP_Label_0133068c-5f3b-4062-adca-9b17e9c90306_Name">
    <vt:lpwstr>Confidential</vt:lpwstr>
  </property>
  <property fmtid="{D5CDD505-2E9C-101B-9397-08002B2CF9AE}" pid="21" name="MSIP_Label_0133068c-5f3b-4062-adca-9b17e9c90306_SiteId">
    <vt:lpwstr>1771ae17-e764-4e0f-a476-d4184d79a5d9</vt:lpwstr>
  </property>
  <property fmtid="{D5CDD505-2E9C-101B-9397-08002B2CF9AE}" pid="22" name="MSIP_Label_0133068c-5f3b-4062-adca-9b17e9c90306_ActionId">
    <vt:lpwstr>b9989c02-7130-44e9-8a0c-db60b8bfcd59</vt:lpwstr>
  </property>
  <property fmtid="{D5CDD505-2E9C-101B-9397-08002B2CF9AE}" pid="23" name="MSIP_Label_0133068c-5f3b-4062-adca-9b17e9c90306_ContentBits">
    <vt:lpwstr>0</vt:lpwstr>
  </property>
  <property fmtid="{D5CDD505-2E9C-101B-9397-08002B2CF9AE}" pid="24" name="TOCOpt">
    <vt:lpwstr>1</vt:lpwstr>
  </property>
  <property fmtid="{D5CDD505-2E9C-101B-9397-08002B2CF9AE}" pid="25" name="PageNumberCustomTop">
    <vt:lpwstr>529</vt:lpwstr>
  </property>
  <property fmtid="{D5CDD505-2E9C-101B-9397-08002B2CF9AE}" pid="26" name="PageNumberCustomLeft">
    <vt:lpwstr>13</vt:lpwstr>
  </property>
  <property fmtid="{D5CDD505-2E9C-101B-9397-08002B2CF9AE}" pid="27" name="Is_Custom_Template">
    <vt:lpwstr>true</vt:lpwstr>
  </property>
  <property fmtid="{D5CDD505-2E9C-101B-9397-08002B2CF9AE}" pid="28" name="PNSOpt">
    <vt:lpwstr>5</vt:lpwstr>
  </property>
  <property fmtid="{D5CDD505-2E9C-101B-9397-08002B2CF9AE}" pid="29" name="Pitchbook Compatible">
    <vt:lpwstr>Yes</vt:lpwstr>
  </property>
  <property fmtid="{D5CDD505-2E9C-101B-9397-08002B2CF9AE}" pid="30" name="ContentTypeId">
    <vt:lpwstr>0x01010097A40CA4937FA046B44BA4208E4DF998</vt:lpwstr>
  </property>
</Properties>
</file>